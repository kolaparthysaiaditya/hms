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media/image6.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5" r:id="rId14"/>
    <p:sldId id="268" r:id="rId15"/>
    <p:sldId id="284"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2" r:id="rId29"/>
    <p:sldId id="28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CD2EDE93-77D5-43B1-990D-F2BD22E85A5B}" type="slidenum">
              <a:rPr lang="en-IN" smtClean="0"/>
              <a:t>‹#›</a:t>
            </a:fld>
            <a:endParaRPr lang="en-IN"/>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050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CD2EDE93-77D5-43B1-990D-F2BD22E85A5B}" type="slidenum">
              <a:rPr lang="en-IN" smtClean="0"/>
              <a:t>‹#›</a:t>
            </a:fld>
            <a:endParaRPr lang="en-IN"/>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6967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IN"/>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C08FB595-7473-4C0E-B941-D451F93B05B5}" type="datetimeFigureOut">
              <a:rPr lang="en-IN" smtClean="0"/>
              <a:t>19-09-2026</a:t>
            </a:fld>
            <a:endParaRPr lang="en-IN"/>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277848290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endParaRPr lang="en-IN"/>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C08FB595-7473-4C0E-B941-D451F93B05B5}" type="datetimeFigureOut">
              <a:rPr lang="en-IN" smtClean="0"/>
              <a:t>19-09-2026</a:t>
            </a:fld>
            <a:endParaRPr lang="en-IN"/>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31875843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IN"/>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C08FB595-7473-4C0E-B941-D451F93B05B5}" type="datetimeFigureOut">
              <a:rPr lang="en-IN" smtClean="0"/>
              <a:t>19-09-2026</a:t>
            </a:fld>
            <a:endParaRPr lang="en-IN"/>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CD2EDE93-77D5-43B1-990D-F2BD22E85A5B}" type="slidenum">
              <a:rPr lang="en-IN" smtClean="0"/>
              <a:t>‹#›</a:t>
            </a:fld>
            <a:endParaRPr lang="en-IN"/>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6872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D2EDE93-77D5-43B1-990D-F2BD22E85A5B}" type="slidenum">
              <a:rPr lang="en-IN" smtClean="0"/>
              <a:t>‹#›</a:t>
            </a:fld>
            <a:endParaRPr lang="en-IN"/>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876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C08FB595-7473-4C0E-B941-D451F93B05B5}" type="datetimeFigureOut">
              <a:rPr lang="en-IN" smtClean="0"/>
              <a:t>19-09-2026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D2EDE93-77D5-43B1-990D-F2BD22E85A5B}" type="slidenum">
              <a:rPr lang="en-IN" smtClean="0"/>
              <a:t>‹#›</a:t>
            </a:fld>
            <a:endParaRPr lang="en-IN"/>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661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D2EDE93-77D5-43B1-990D-F2BD22E85A5B}" type="slidenum">
              <a:rPr lang="en-IN" smtClean="0"/>
              <a:t>‹#›</a:t>
            </a:fld>
            <a:endParaRPr lang="en-IN"/>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179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D2EDE93-77D5-43B1-990D-F2BD22E85A5B}" type="slidenum">
              <a:rPr lang="en-IN" smtClean="0"/>
              <a:t>‹#›</a:t>
            </a:fld>
            <a:endParaRPr lang="en-IN"/>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604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a:t>Click to edit Master title style</a:t>
            </a:r>
            <a:endParaRPr lang="en-US" dirty="0"/>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endParaRPr lang="en-IN"/>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C08FB595-7473-4C0E-B941-D451F93B05B5}" type="datetimeFigureOut">
              <a:rPr lang="en-IN" smtClean="0"/>
              <a:t>19-09-2026</a:t>
            </a:fld>
            <a:endParaRPr lang="en-IN"/>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1043174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endParaRPr lang="en-IN"/>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C08FB595-7473-4C0E-B941-D451F93B05B5}" type="datetimeFigureOut">
              <a:rPr lang="en-IN" smtClean="0"/>
              <a:t>19-09-2026</a:t>
            </a:fld>
            <a:endParaRPr lang="en-IN"/>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39320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endParaRPr lang="en-IN"/>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C08FB595-7473-4C0E-B941-D451F93B05B5}" type="datetimeFigureOut">
              <a:rPr lang="en-IN" smtClean="0"/>
              <a:t>19-09-2026</a:t>
            </a:fld>
            <a:endParaRPr lang="en-IN"/>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CD2EDE93-77D5-43B1-990D-F2BD22E85A5B}" type="slidenum">
              <a:rPr lang="en-IN" smtClean="0"/>
              <a:t>‹#›</a:t>
            </a:fld>
            <a:endParaRPr lang="en-IN"/>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995303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endParaRPr lang="en-IN"/>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C08FB595-7473-4C0E-B941-D451F93B05B5}" type="datetimeFigureOut">
              <a:rPr lang="en-IN" smtClean="0"/>
              <a:t>19-09-2026</a:t>
            </a:fld>
            <a:endParaRPr lang="en-IN"/>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CD2EDE93-77D5-43B1-990D-F2BD22E85A5B}" type="slidenum">
              <a:rPr lang="en-IN" smtClean="0"/>
              <a:t>‹#›</a:t>
            </a:fld>
            <a:endParaRPr lang="en-IN"/>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4427492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endParaRPr lang="en-IN"/>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C08FB595-7473-4C0E-B941-D451F93B05B5}" type="datetimeFigureOut">
              <a:rPr lang="en-IN" smtClean="0"/>
              <a:t>19-09-2026</a:t>
            </a:fld>
            <a:endParaRPr lang="en-IN"/>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CD2EDE93-77D5-43B1-990D-F2BD22E85A5B}" type="slidenum">
              <a:rPr lang="en-IN" smtClean="0"/>
              <a:t>‹#›</a:t>
            </a:fld>
            <a:endParaRPr lang="en-IN"/>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2451187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a:t>Click to edit Master title style</a:t>
            </a:r>
            <a:endParaRPr lang="en-US" dirty="0"/>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endParaRPr lang="en-IN"/>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C08FB595-7473-4C0E-B941-D451F93B05B5}" type="datetimeFigureOut">
              <a:rPr lang="en-IN" smtClean="0"/>
              <a:t>19-09-2026</a:t>
            </a:fld>
            <a:endParaRPr lang="en-IN"/>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739999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C08FB595-7473-4C0E-B941-D451F93B05B5}" type="datetimeFigureOut">
              <a:rPr lang="en-IN" smtClean="0"/>
              <a:t>19-09-2026</a:t>
            </a:fld>
            <a:endParaRPr lang="en-IN"/>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IN"/>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6104140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endParaRPr lang="en-IN"/>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C08FB595-7473-4C0E-B941-D451F93B05B5}" type="datetimeFigureOut">
              <a:rPr lang="en-IN" smtClean="0"/>
              <a:t>19-09-2026</a:t>
            </a:fld>
            <a:endParaRPr lang="en-IN"/>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16656660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a:t>Click to edit Master title style</a:t>
            </a:r>
            <a:endParaRPr lang="en-US" dirty="0"/>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D2EDE93-77D5-43B1-990D-F2BD22E85A5B}" type="slidenum">
              <a:rPr lang="en-IN" smtClean="0"/>
              <a:t>‹#›</a:t>
            </a:fld>
            <a:endParaRPr lang="en-IN"/>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58326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C08FB595-7473-4C0E-B941-D451F93B05B5}" type="datetimeFigureOut">
              <a:rPr lang="en-IN" smtClean="0"/>
              <a:t>19-09-2026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D2EDE93-77D5-43B1-990D-F2BD22E85A5B}" type="slidenum">
              <a:rPr lang="en-IN" smtClean="0"/>
              <a:t>‹#›</a:t>
            </a:fld>
            <a:endParaRPr lang="en-IN"/>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0892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D2EDE93-77D5-43B1-990D-F2BD22E85A5B}" type="slidenum">
              <a:rPr lang="en-IN" smtClean="0"/>
              <a:t>‹#›</a:t>
            </a:fld>
            <a:endParaRPr lang="en-IN"/>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84167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D2EDE93-77D5-43B1-990D-F2BD22E85A5B}" type="slidenum">
              <a:rPr lang="en-IN" smtClean="0"/>
              <a:t>‹#›</a:t>
            </a:fld>
            <a:endParaRPr lang="en-IN"/>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14516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IN"/>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CD2EDE93-77D5-43B1-990D-F2BD22E85A5B}" type="slidenum">
              <a:rPr lang="en-IN" smtClean="0"/>
              <a:t>‹#›</a:t>
            </a:fld>
            <a:endParaRPr lang="en-IN"/>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5974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IN"/>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CD2EDE93-77D5-43B1-990D-F2BD22E85A5B}" type="slidenum">
              <a:rPr lang="en-IN" smtClean="0"/>
              <a:t>‹#›</a:t>
            </a:fld>
            <a:endParaRPr lang="en-IN"/>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83570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CD2EDE93-77D5-43B1-990D-F2BD22E85A5B}" type="slidenum">
              <a:rPr lang="en-IN" smtClean="0"/>
              <a:t>‹#›</a:t>
            </a:fld>
            <a:endParaRPr lang="en-IN"/>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20379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40997437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08FB595-7473-4C0E-B941-D451F93B05B5}" type="datetimeFigureOut">
              <a:rPr lang="en-IN" smtClean="0"/>
              <a:t>19-09-2026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D2EDE93-77D5-43B1-990D-F2BD22E85A5B}" type="slidenum">
              <a:rPr lang="en-IN" smtClean="0"/>
              <a:t>‹#›</a:t>
            </a:fld>
            <a:endParaRPr lang="en-IN"/>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1224635"/>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08FB595-7473-4C0E-B941-D451F93B05B5}" type="datetimeFigureOut">
              <a:rPr lang="en-IN" smtClean="0"/>
              <a:t>19-09-2026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D2EDE93-77D5-43B1-990D-F2BD22E85A5B}" type="slidenum">
              <a:rPr lang="en-IN" smtClean="0"/>
              <a:t>‹#›</a:t>
            </a:fld>
            <a:endParaRPr lang="en-IN"/>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9824758"/>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3914-A9A4-90B5-91A6-AD9C367FA7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D5DCE7-A358-946C-218D-4B82D24B2B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C484F31-7647-D59B-621E-3D1554E4A2AD}"/>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5" name="Footer Placeholder 4">
            <a:extLst>
              <a:ext uri="{FF2B5EF4-FFF2-40B4-BE49-F238E27FC236}">
                <a16:creationId xmlns:a16="http://schemas.microsoft.com/office/drawing/2014/main" id="{AD524F16-7B2D-A713-434D-D5C3AB86FD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0478BE-D404-E2A7-D49A-C8EE3CA3F859}"/>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31280661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4ADB1-A06E-9AB2-2F7A-F7A5F383AD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1F3B11-97CD-2986-9C23-FDB54A0FB8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F51A8F-4F95-B4FF-3EF8-469C8264D6BF}"/>
              </a:ext>
            </a:extLst>
          </p:cNvPr>
          <p:cNvSpPr>
            <a:spLocks noGrp="1"/>
          </p:cNvSpPr>
          <p:nvPr>
            <p:ph type="dt" sz="half" idx="10"/>
          </p:nvPr>
        </p:nvSpPr>
        <p:spPr/>
        <p:txBody>
          <a:bodyPr/>
          <a:lstStyle/>
          <a:p>
            <a:fld id="{C08FB595-7473-4C0E-B941-D451F93B05B5}" type="datetimeFigureOut">
              <a:rPr lang="en-IN" smtClean="0"/>
              <a:t>19-09-2026</a:t>
            </a:fld>
            <a:endParaRPr lang="en-IN"/>
          </a:p>
        </p:txBody>
      </p:sp>
      <p:sp>
        <p:nvSpPr>
          <p:cNvPr id="5" name="Footer Placeholder 4">
            <a:extLst>
              <a:ext uri="{FF2B5EF4-FFF2-40B4-BE49-F238E27FC236}">
                <a16:creationId xmlns:a16="http://schemas.microsoft.com/office/drawing/2014/main" id="{89EE687D-580C-E4F0-1D81-A94B983505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749E50-1200-7EF1-623B-DA5DDDE6D813}"/>
              </a:ext>
            </a:extLst>
          </p:cNvPr>
          <p:cNvSpPr>
            <a:spLocks noGrp="1"/>
          </p:cNvSpPr>
          <p:nvPr>
            <p:ph type="sldNum" sz="quarter" idx="12"/>
          </p:nvPr>
        </p:nvSpPr>
        <p:spPr/>
        <p:txBody>
          <a:bodyPr/>
          <a:lstStyle/>
          <a:p>
            <a:fld id="{CD2EDE93-77D5-43B1-990D-F2BD22E85A5B}" type="slidenum">
              <a:rPr lang="en-IN" smtClean="0"/>
              <a:t>‹#›</a:t>
            </a:fld>
            <a:endParaRPr lang="en-IN"/>
          </a:p>
        </p:txBody>
      </p:sp>
    </p:spTree>
    <p:extLst>
      <p:ext uri="{BB962C8B-B14F-4D97-AF65-F5344CB8AC3E}">
        <p14:creationId xmlns:p14="http://schemas.microsoft.com/office/powerpoint/2010/main" val="3091680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endParaRPr lang="en-IN"/>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C08FB595-7473-4C0E-B941-D451F93B05B5}" type="datetimeFigureOut">
              <a:rPr lang="en-IN" smtClean="0"/>
              <a:t>19-09-2026</a:t>
            </a:fld>
            <a:endParaRPr lang="en-IN"/>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CD2EDE93-77D5-43B1-990D-F2BD22E85A5B}" type="slidenum">
              <a:rPr lang="en-IN" smtClean="0"/>
              <a:t>‹#›</a:t>
            </a:fld>
            <a:endParaRPr lang="en-IN"/>
          </a:p>
        </p:txBody>
      </p:sp>
    </p:spTree>
    <p:extLst>
      <p:ext uri="{BB962C8B-B14F-4D97-AF65-F5344CB8AC3E}">
        <p14:creationId xmlns:p14="http://schemas.microsoft.com/office/powerpoint/2010/main" val="31680329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A29F7-C496-220A-6036-B03D67AF8674}"/>
              </a:ext>
            </a:extLst>
          </p:cNvPr>
          <p:cNvSpPr>
            <a:spLocks noGrp="1"/>
          </p:cNvSpPr>
          <p:nvPr>
            <p:ph type="ctrTitle"/>
          </p:nvPr>
        </p:nvSpPr>
        <p:spPr>
          <a:xfrm>
            <a:off x="1524000" y="633891"/>
            <a:ext cx="9144000" cy="2444817"/>
          </a:xfrm>
        </p:spPr>
        <p:txBody>
          <a:bodyPr>
            <a:normAutofit/>
          </a:bodyPr>
          <a:lstStyle/>
          <a:p>
            <a:r>
              <a:rPr lang="en-IN" sz="3600" spc="-10" dirty="0">
                <a:solidFill>
                  <a:srgbClr val="00B0F0"/>
                </a:solidFill>
                <a:latin typeface="Times New Roman" panose="02020603050405020304" pitchFamily="18" charset="0"/>
                <a:cs typeface="Times New Roman" panose="02020603050405020304" pitchFamily="18" charset="0"/>
              </a:rPr>
              <a:t>Database Management Systems Cornerstone Project</a:t>
            </a:r>
            <a:br>
              <a:rPr lang="en-IN" sz="6000" spc="-10" dirty="0">
                <a:solidFill>
                  <a:srgbClr val="00B0F0"/>
                </a:solidFill>
                <a:latin typeface="Times New Roman" panose="02020603050405020304" pitchFamily="18" charset="0"/>
                <a:cs typeface="Times New Roman" panose="02020603050405020304" pitchFamily="18" charset="0"/>
              </a:rPr>
            </a:br>
            <a:r>
              <a:rPr lang="en-IN" sz="3100" spc="-10" dirty="0">
                <a:solidFill>
                  <a:srgbClr val="C00000"/>
                </a:solidFill>
                <a:latin typeface="Times New Roman" panose="02020603050405020304" pitchFamily="18" charset="0"/>
                <a:cs typeface="Times New Roman" panose="02020603050405020304" pitchFamily="18" charset="0"/>
              </a:rPr>
              <a:t>Final Review (Review I &amp; II)</a:t>
            </a:r>
            <a:endParaRPr lang="en-IN" sz="3100" dirty="0">
              <a:solidFill>
                <a:srgbClr val="C00000"/>
              </a:solidFill>
            </a:endParaRPr>
          </a:p>
        </p:txBody>
      </p:sp>
      <p:sp>
        <p:nvSpPr>
          <p:cNvPr id="3" name="Subtitle 2">
            <a:extLst>
              <a:ext uri="{FF2B5EF4-FFF2-40B4-BE49-F238E27FC236}">
                <a16:creationId xmlns:a16="http://schemas.microsoft.com/office/drawing/2014/main" id="{9C7EF75A-53A4-9F59-8185-FBE1406C1D97}"/>
              </a:ext>
            </a:extLst>
          </p:cNvPr>
          <p:cNvSpPr>
            <a:spLocks noGrp="1"/>
          </p:cNvSpPr>
          <p:nvPr>
            <p:ph type="subTitle" idx="1"/>
          </p:nvPr>
        </p:nvSpPr>
        <p:spPr>
          <a:xfrm>
            <a:off x="1783884" y="3428999"/>
            <a:ext cx="9144000" cy="2962469"/>
          </a:xfrm>
        </p:spPr>
        <p:txBody>
          <a:bodyPr>
            <a:normAutofit fontScale="25000" lnSpcReduction="20000"/>
          </a:bodyPr>
          <a:lstStyle/>
          <a:p>
            <a:r>
              <a:rPr lang="en-IN" sz="8000" b="1" dirty="0">
                <a:solidFill>
                  <a:srgbClr val="00B0F0"/>
                </a:solidFill>
                <a:latin typeface="Times New Roman" panose="02020603050405020304" pitchFamily="18" charset="0"/>
                <a:cs typeface="Times New Roman" panose="02020603050405020304" pitchFamily="18" charset="0"/>
              </a:rPr>
              <a:t>HOSPITAL MANAGEMENT SYSTEM</a:t>
            </a:r>
          </a:p>
          <a:p>
            <a:r>
              <a:rPr lang="en-IN" sz="8000" b="1" dirty="0">
                <a:solidFill>
                  <a:srgbClr val="92D050"/>
                </a:solidFill>
                <a:latin typeface="Times New Roman" panose="02020603050405020304" pitchFamily="18" charset="0"/>
                <a:cs typeface="Times New Roman" panose="02020603050405020304" pitchFamily="18" charset="0"/>
              </a:rPr>
              <a:t>Presented by</a:t>
            </a:r>
          </a:p>
          <a:p>
            <a:r>
              <a:rPr lang="en-IN" sz="8000" b="1" dirty="0">
                <a:solidFill>
                  <a:srgbClr val="7030A0"/>
                </a:solidFill>
                <a:latin typeface="Times New Roman" panose="02020603050405020304" pitchFamily="18" charset="0"/>
                <a:cs typeface="Times New Roman" panose="02020603050405020304" pitchFamily="18" charset="0"/>
              </a:rPr>
              <a:t>T. NANDINI-25B11AIC11</a:t>
            </a:r>
          </a:p>
          <a:p>
            <a:r>
              <a:rPr lang="en-IN" sz="8000" b="1" dirty="0">
                <a:solidFill>
                  <a:srgbClr val="7030A0"/>
                </a:solidFill>
                <a:latin typeface="Times New Roman" panose="02020603050405020304" pitchFamily="18" charset="0"/>
                <a:cs typeface="Times New Roman" panose="02020603050405020304" pitchFamily="18" charset="0"/>
              </a:rPr>
              <a:t> k. SAI ADITYA-26B11AI127</a:t>
            </a:r>
          </a:p>
          <a:p>
            <a:r>
              <a:rPr lang="en-IN" sz="8000" b="1" dirty="0">
                <a:solidFill>
                  <a:srgbClr val="7030A0"/>
                </a:solidFill>
                <a:latin typeface="Times New Roman" panose="02020603050405020304" pitchFamily="18" charset="0"/>
                <a:cs typeface="Times New Roman" panose="02020603050405020304" pitchFamily="18" charset="0"/>
              </a:rPr>
              <a:t>    I. KARTHIK-26B11AI045</a:t>
            </a:r>
          </a:p>
          <a:p>
            <a:r>
              <a:rPr lang="en-US" sz="8000" dirty="0">
                <a:solidFill>
                  <a:srgbClr val="FF0000"/>
                </a:solidFill>
                <a:latin typeface="Times New Roman" panose="02020603050405020304" pitchFamily="18" charset="0"/>
                <a:cs typeface="Times New Roman" panose="02020603050405020304" pitchFamily="18" charset="0"/>
              </a:rPr>
              <a:t>Department</a:t>
            </a:r>
            <a:r>
              <a:rPr lang="en-US" sz="8000" spc="-60" dirty="0">
                <a:solidFill>
                  <a:srgbClr val="FF0000"/>
                </a:solidFill>
                <a:latin typeface="Times New Roman" panose="02020603050405020304" pitchFamily="18" charset="0"/>
                <a:cs typeface="Times New Roman" panose="02020603050405020304" pitchFamily="18" charset="0"/>
              </a:rPr>
              <a:t> </a:t>
            </a:r>
            <a:r>
              <a:rPr lang="en-US" sz="8000" dirty="0">
                <a:solidFill>
                  <a:srgbClr val="FF0000"/>
                </a:solidFill>
                <a:latin typeface="Times New Roman" panose="02020603050405020304" pitchFamily="18" charset="0"/>
                <a:cs typeface="Times New Roman" panose="02020603050405020304" pitchFamily="18" charset="0"/>
              </a:rPr>
              <a:t>of Artificial Intelligence &amp; Machine Learning</a:t>
            </a:r>
          </a:p>
          <a:p>
            <a:r>
              <a:rPr lang="en-IN" sz="8000" b="1" dirty="0">
                <a:solidFill>
                  <a:schemeClr val="tx2">
                    <a:lumMod val="50000"/>
                  </a:schemeClr>
                </a:solidFill>
                <a:latin typeface="Times New Roman" panose="02020603050405020304" pitchFamily="18" charset="0"/>
                <a:cs typeface="Times New Roman" panose="02020603050405020304" pitchFamily="18" charset="0"/>
              </a:rPr>
              <a:t>SUBMITTED TO:</a:t>
            </a:r>
          </a:p>
          <a:p>
            <a:r>
              <a:rPr lang="en-IN" sz="8000" b="1" dirty="0">
                <a:solidFill>
                  <a:schemeClr val="tx2">
                    <a:lumMod val="50000"/>
                  </a:schemeClr>
                </a:solidFill>
                <a:latin typeface="Times New Roman" panose="02020603050405020304" pitchFamily="18" charset="0"/>
                <a:cs typeface="Times New Roman" panose="02020603050405020304" pitchFamily="18" charset="0"/>
              </a:rPr>
              <a:t>FACULTY NAME: V.G L.NARSAMBA</a:t>
            </a:r>
          </a:p>
          <a:p>
            <a:endParaRPr lang="en-US" sz="8000" dirty="0">
              <a:solidFill>
                <a:srgbClr val="FF0000"/>
              </a:solidFill>
              <a:latin typeface="Times New Roman" panose="02020603050405020304" pitchFamily="18" charset="0"/>
              <a:cs typeface="Times New Roman" panose="02020603050405020304" pitchFamily="18" charset="0"/>
            </a:endParaRPr>
          </a:p>
          <a:p>
            <a:endParaRPr lang="en-IN" sz="8000" b="1" dirty="0">
              <a:solidFill>
                <a:srgbClr val="92D05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5" name="object 2">
            <a:extLst>
              <a:ext uri="{FF2B5EF4-FFF2-40B4-BE49-F238E27FC236}">
                <a16:creationId xmlns:a16="http://schemas.microsoft.com/office/drawing/2014/main" id="{4DF63FED-DA3C-440F-D992-210817BFB226}"/>
              </a:ext>
            </a:extLst>
          </p:cNvPr>
          <p:cNvPicPr/>
          <p:nvPr/>
        </p:nvPicPr>
        <p:blipFill>
          <a:blip r:embed="rId2" cstate="print"/>
          <a:stretch>
            <a:fillRect/>
          </a:stretch>
        </p:blipFill>
        <p:spPr>
          <a:xfrm>
            <a:off x="3496400" y="305936"/>
            <a:ext cx="4909989" cy="880044"/>
          </a:xfrm>
          <a:prstGeom prst="rect">
            <a:avLst/>
          </a:prstGeom>
        </p:spPr>
      </p:pic>
    </p:spTree>
    <p:extLst>
      <p:ext uri="{BB962C8B-B14F-4D97-AF65-F5344CB8AC3E}">
        <p14:creationId xmlns:p14="http://schemas.microsoft.com/office/powerpoint/2010/main" val="1100654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2C097-4768-2513-8210-6C2D98208E0A}"/>
              </a:ext>
            </a:extLst>
          </p:cNvPr>
          <p:cNvSpPr>
            <a:spLocks noGrp="1"/>
          </p:cNvSpPr>
          <p:nvPr>
            <p:ph type="title"/>
          </p:nvPr>
        </p:nvSpPr>
        <p:spPr>
          <a:xfrm>
            <a:off x="838200" y="240633"/>
            <a:ext cx="10515600" cy="750772"/>
          </a:xfrm>
        </p:spPr>
        <p:txBody>
          <a:bodyPr>
            <a:normAutofit/>
          </a:bodyPr>
          <a:lstStyle/>
          <a:p>
            <a:pPr algn="ctr"/>
            <a:r>
              <a:rPr lang="en-IN" dirty="0">
                <a:solidFill>
                  <a:schemeClr val="accent2">
                    <a:lumMod val="75000"/>
                  </a:schemeClr>
                </a:solidFill>
              </a:rPr>
              <a:t>Presentation outline</a:t>
            </a:r>
            <a:r>
              <a:rPr lang="en-IN" dirty="0"/>
              <a:t>:</a:t>
            </a:r>
          </a:p>
        </p:txBody>
      </p:sp>
      <p:sp>
        <p:nvSpPr>
          <p:cNvPr id="3" name="Content Placeholder 2">
            <a:extLst>
              <a:ext uri="{FF2B5EF4-FFF2-40B4-BE49-F238E27FC236}">
                <a16:creationId xmlns:a16="http://schemas.microsoft.com/office/drawing/2014/main" id="{D813CCF9-2F09-4193-C172-D96638770939}"/>
              </a:ext>
            </a:extLst>
          </p:cNvPr>
          <p:cNvSpPr>
            <a:spLocks noGrp="1"/>
          </p:cNvSpPr>
          <p:nvPr>
            <p:ph idx="1"/>
          </p:nvPr>
        </p:nvSpPr>
        <p:spPr>
          <a:xfrm>
            <a:off x="838200" y="991405"/>
            <a:ext cx="10515600" cy="5866595"/>
          </a:xfrm>
        </p:spPr>
        <p:txBody>
          <a:bodyPr>
            <a:normAutofit fontScale="77500" lnSpcReduction="20000"/>
          </a:bodyPr>
          <a:lstStyle/>
          <a:p>
            <a:pPr marL="514350" indent="-514350">
              <a:buAutoNum type="arabicPeriod"/>
            </a:pPr>
            <a:r>
              <a:rPr lang="en-IN" sz="2800" dirty="0">
                <a:latin typeface="Times New Roman" panose="02020603050405020304" pitchFamily="18" charset="0"/>
                <a:cs typeface="Times New Roman" panose="02020603050405020304" pitchFamily="18" charset="0"/>
              </a:rPr>
              <a:t>Finalize title, objectives &amp; problem statement</a:t>
            </a:r>
          </a:p>
          <a:p>
            <a:r>
              <a:rPr lang="en-IN" sz="2800" dirty="0">
                <a:latin typeface="Times New Roman" panose="02020603050405020304" pitchFamily="18" charset="0"/>
                <a:cs typeface="Times New Roman" panose="02020603050405020304" pitchFamily="18" charset="0"/>
              </a:rPr>
              <a:t>  	Abstract                                                                                                                                                   </a:t>
            </a:r>
          </a:p>
          <a:p>
            <a:r>
              <a:rPr lang="en-IN" sz="2800" dirty="0">
                <a:latin typeface="Times New Roman" panose="02020603050405020304" pitchFamily="18" charset="0"/>
                <a:cs typeface="Times New Roman" panose="02020603050405020304" pitchFamily="18" charset="0"/>
              </a:rPr>
              <a:t>	Identify entities &amp; attributes</a:t>
            </a:r>
          </a:p>
          <a:p>
            <a:r>
              <a:rPr lang="en-IN" sz="2800" dirty="0">
                <a:latin typeface="Times New Roman" panose="02020603050405020304" pitchFamily="18" charset="0"/>
                <a:cs typeface="Times New Roman" panose="02020603050405020304" pitchFamily="18" charset="0"/>
              </a:rPr>
              <a:t>	Design ER diagram &amp; relationships</a:t>
            </a:r>
          </a:p>
          <a:p>
            <a:r>
              <a:rPr lang="en-IN" sz="2800" dirty="0">
                <a:latin typeface="Times New Roman" panose="02020603050405020304" pitchFamily="18" charset="0"/>
                <a:cs typeface="Times New Roman" panose="02020603050405020304" pitchFamily="18" charset="0"/>
              </a:rPr>
              <a:t> 	Prepare relational database schema</a:t>
            </a:r>
          </a:p>
          <a:p>
            <a:r>
              <a:rPr lang="en-IN" sz="2800" dirty="0">
                <a:latin typeface="Times New Roman" panose="02020603050405020304" pitchFamily="18" charset="0"/>
                <a:cs typeface="Times New Roman" panose="02020603050405020304" pitchFamily="18" charset="0"/>
              </a:rPr>
              <a:t> 	Define Primary &amp; Foreign Keys</a:t>
            </a:r>
          </a:p>
          <a:p>
            <a:r>
              <a:rPr lang="en-IN" sz="2800" dirty="0">
                <a:latin typeface="Times New Roman" panose="02020603050405020304" pitchFamily="18" charset="0"/>
                <a:cs typeface="Times New Roman" panose="02020603050405020304" pitchFamily="18" charset="0"/>
              </a:rPr>
              <a:t> 	Create GitHub repo &amp; responsibilities</a:t>
            </a:r>
          </a:p>
          <a:p>
            <a:r>
              <a:rPr lang="en-IN" sz="2800" dirty="0">
                <a:latin typeface="Times New Roman" panose="02020603050405020304" pitchFamily="18" charset="0"/>
                <a:cs typeface="Times New Roman" panose="02020603050405020304" pitchFamily="18" charset="0"/>
              </a:rPr>
              <a:t> 	Database creation &amp; constraints</a:t>
            </a:r>
          </a:p>
          <a:p>
            <a:r>
              <a:rPr lang="en-IN" sz="2800" dirty="0">
                <a:latin typeface="Times New Roman" panose="02020603050405020304" pitchFamily="18" charset="0"/>
                <a:cs typeface="Times New Roman" panose="02020603050405020304" pitchFamily="18" charset="0"/>
              </a:rPr>
              <a:t> 	Insert sample data:</a:t>
            </a:r>
          </a:p>
          <a:p>
            <a:pPr marL="514350" indent="-514350">
              <a:buFont typeface="+mj-lt"/>
              <a:buAutoNum type="arabicPeriod" startAt="2"/>
            </a:pPr>
            <a:r>
              <a:rPr lang="en-IN" sz="2800" dirty="0">
                <a:latin typeface="Times New Roman" panose="02020603050405020304" pitchFamily="18" charset="0"/>
                <a:cs typeface="Times New Roman" panose="02020603050405020304" pitchFamily="18" charset="0"/>
              </a:rPr>
              <a:t>DDL, DML &amp; DQL operations</a:t>
            </a:r>
          </a:p>
          <a:p>
            <a:pPr marL="514350" indent="-514350">
              <a:buFont typeface="+mj-lt"/>
              <a:buAutoNum type="arabicPeriod" startAt="2"/>
            </a:pPr>
            <a:r>
              <a:rPr lang="en-IN" sz="2800" dirty="0">
                <a:latin typeface="Times New Roman" panose="02020603050405020304" pitchFamily="18" charset="0"/>
                <a:cs typeface="Times New Roman" panose="02020603050405020304" pitchFamily="18" charset="0"/>
              </a:rPr>
              <a:t>CRUD operations &amp; SQL queries</a:t>
            </a:r>
          </a:p>
          <a:p>
            <a:pPr marL="514350" indent="-514350">
              <a:buFont typeface="+mj-lt"/>
              <a:buAutoNum type="arabicPeriod" startAt="2"/>
            </a:pPr>
            <a:r>
              <a:rPr lang="en-IN" sz="2800" dirty="0">
                <a:latin typeface="Times New Roman" panose="02020603050405020304" pitchFamily="18" charset="0"/>
                <a:cs typeface="Times New Roman" panose="02020603050405020304" pitchFamily="18" charset="0"/>
              </a:rPr>
              <a:t>Data integrity &amp; validation</a:t>
            </a:r>
          </a:p>
          <a:p>
            <a:pPr marL="514350" indent="-514350">
              <a:buFont typeface="+mj-lt"/>
              <a:buAutoNum type="arabicPeriod" startAt="2"/>
            </a:pPr>
            <a:r>
              <a:rPr lang="en-IN" sz="2800" dirty="0">
                <a:latin typeface="Times New Roman" panose="02020603050405020304" pitchFamily="18" charset="0"/>
                <a:cs typeface="Times New Roman" panose="02020603050405020304" pitchFamily="18" charset="0"/>
              </a:rPr>
              <a:t>Project documentation</a:t>
            </a:r>
          </a:p>
          <a:p>
            <a:pPr marL="514350" indent="-514350">
              <a:buFont typeface="+mj-lt"/>
              <a:buAutoNum type="arabicPeriod" startAt="2"/>
            </a:pPr>
            <a:r>
              <a:rPr lang="en-IN" sz="2800" dirty="0">
                <a:latin typeface="Times New Roman" panose="02020603050405020304" pitchFamily="18" charset="0"/>
                <a:cs typeface="Times New Roman" panose="02020603050405020304" pitchFamily="18" charset="0"/>
              </a:rPr>
              <a:t>Demonstrate &amp; present database</a:t>
            </a:r>
          </a:p>
          <a:p>
            <a:pPr marL="514350" indent="-514350">
              <a:buFont typeface="+mj-lt"/>
              <a:buAutoNum type="arabicPeriod" startAt="2"/>
            </a:pPr>
            <a:r>
              <a:rPr lang="en-IN" sz="2800" dirty="0">
                <a:latin typeface="Times New Roman" panose="02020603050405020304" pitchFamily="18" charset="0"/>
                <a:cs typeface="Times New Roman" panose="02020603050405020304" pitchFamily="18" charset="0"/>
              </a:rPr>
              <a:t>Conclusion</a:t>
            </a:r>
          </a:p>
          <a:p>
            <a:pPr marL="514350" indent="-514350">
              <a:buAutoNum type="arabicPeriod" startAt="2"/>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519022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C73C6-1B8A-ACFB-678B-22DE1077132B}"/>
              </a:ext>
            </a:extLst>
          </p:cNvPr>
          <p:cNvSpPr>
            <a:spLocks noGrp="1"/>
          </p:cNvSpPr>
          <p:nvPr>
            <p:ph type="title"/>
          </p:nvPr>
        </p:nvSpPr>
        <p:spPr>
          <a:xfrm>
            <a:off x="838201" y="67377"/>
            <a:ext cx="9037320" cy="548641"/>
          </a:xfrm>
        </p:spPr>
        <p:txBody>
          <a:bodyPr>
            <a:normAutofit fontScale="90000"/>
          </a:bodyPr>
          <a:lstStyle/>
          <a:p>
            <a:pPr algn="ctr"/>
            <a:r>
              <a:rPr lang="en-IN" dirty="0">
                <a:solidFill>
                  <a:srgbClr val="7030A0"/>
                </a:solidFill>
              </a:rPr>
              <a:t>DESIGN:</a:t>
            </a:r>
          </a:p>
        </p:txBody>
      </p:sp>
      <p:sp>
        <p:nvSpPr>
          <p:cNvPr id="7" name="TextBox 6">
            <a:extLst>
              <a:ext uri="{FF2B5EF4-FFF2-40B4-BE49-F238E27FC236}">
                <a16:creationId xmlns:a16="http://schemas.microsoft.com/office/drawing/2014/main" id="{BBDE2745-69F3-D6C3-0CFE-CE544579DE44}"/>
              </a:ext>
            </a:extLst>
          </p:cNvPr>
          <p:cNvSpPr txBox="1"/>
          <p:nvPr/>
        </p:nvSpPr>
        <p:spPr>
          <a:xfrm>
            <a:off x="838201" y="616018"/>
            <a:ext cx="9884342" cy="4031873"/>
          </a:xfrm>
          <a:prstGeom prst="rect">
            <a:avLst/>
          </a:prstGeom>
          <a:noFill/>
        </p:spPr>
        <p:txBody>
          <a:bodyPr wrap="square">
            <a:spAutoFit/>
          </a:bodyPr>
          <a:lstStyle/>
          <a:p>
            <a:pPr algn="ctr"/>
            <a:r>
              <a:rPr lang="en-US" sz="3200" b="1" dirty="0"/>
              <a:t>Problem Statement:</a:t>
            </a:r>
          </a:p>
          <a:p>
            <a:pPr algn="ctr"/>
            <a:endParaRPr lang="en-US" sz="2800" b="1" dirty="0">
              <a:latin typeface="Times New Roman" panose="02020603050405020304" pitchFamily="18" charset="0"/>
              <a:cs typeface="Times New Roman" panose="02020603050405020304" pitchFamily="18" charset="0"/>
            </a:endParaRPr>
          </a:p>
          <a:p>
            <a:endParaRPr lang="en-US" b="1" dirty="0"/>
          </a:p>
          <a:p>
            <a:r>
              <a:rPr lang="en-IN" sz="2000" dirty="0">
                <a:latin typeface="Times New Roman" panose="02020603050405020304" pitchFamily="18" charset="0"/>
                <a:cs typeface="Times New Roman" panose="02020603050405020304" pitchFamily="18" charset="0"/>
              </a:rPr>
              <a:t>Managing patient information, doctors, appointments, treatments, prescriptions, billing, and hospital records manually can be difficult and time-consuming. Manual record management may lead to duplicate data, incorrect information, difficulty in retrieving patient records, appointment conflicts, and errors in billing and treatment details.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Therefore, a </a:t>
            </a:r>
            <a:r>
              <a:rPr lang="en-IN" sz="2000" b="1" dirty="0">
                <a:latin typeface="Times New Roman" panose="02020603050405020304" pitchFamily="18" charset="0"/>
                <a:cs typeface="Times New Roman" panose="02020603050405020304" pitchFamily="18" charset="0"/>
              </a:rPr>
              <a:t>Hospital Management System</a:t>
            </a:r>
            <a:r>
              <a:rPr lang="en-IN" sz="2000" dirty="0">
                <a:latin typeface="Times New Roman" panose="02020603050405020304" pitchFamily="18" charset="0"/>
                <a:cs typeface="Times New Roman" panose="02020603050405020304" pitchFamily="18" charset="0"/>
              </a:rPr>
              <a:t> is developed using a relational database to provide a centralized system for storing, organizing, and managing hospital-related information efficiently and accurately</a:t>
            </a:r>
            <a:r>
              <a:rPr lang="en-IN" dirty="0"/>
              <a:t>.</a:t>
            </a:r>
          </a:p>
          <a:p>
            <a:endParaRPr lang="en-US" dirty="0"/>
          </a:p>
        </p:txBody>
      </p:sp>
    </p:spTree>
    <p:extLst>
      <p:ext uri="{BB962C8B-B14F-4D97-AF65-F5344CB8AC3E}">
        <p14:creationId xmlns:p14="http://schemas.microsoft.com/office/powerpoint/2010/main" val="3848029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16E98-BBF3-6781-042B-B85D918F4B5E}"/>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2F45A0C7-E64B-758C-CF77-A5063679E747}"/>
              </a:ext>
            </a:extLst>
          </p:cNvPr>
          <p:cNvSpPr>
            <a:spLocks noGrp="1"/>
          </p:cNvSpPr>
          <p:nvPr>
            <p:ph idx="1"/>
          </p:nvPr>
        </p:nvSpPr>
        <p:spPr/>
        <p:txBody>
          <a:bodyPr>
            <a:normAutofit/>
          </a:bodyPr>
          <a:lstStyle/>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To manage patient information efficiently.</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To maintain doctor and department details.</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To manage patient appointments.</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To maintain admission and discharge records.</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To store diagnosis and treatment information.</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To manage prescription and medicine details.</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To maintain billing and payment information.</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To reduce data redundancy and manual errors.</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To provide quick access to hospital records.</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To improve the efficiency of hospital management.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8059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84DB6-1890-DEA5-DCD4-F5BDE0819626}"/>
              </a:ext>
            </a:extLst>
          </p:cNvPr>
          <p:cNvSpPr>
            <a:spLocks noGrp="1"/>
          </p:cNvSpPr>
          <p:nvPr>
            <p:ph type="title"/>
          </p:nvPr>
        </p:nvSpPr>
        <p:spPr>
          <a:xfrm>
            <a:off x="719489" y="0"/>
            <a:ext cx="10515600" cy="895150"/>
          </a:xfrm>
        </p:spPr>
        <p:txBody>
          <a:bodyPr/>
          <a:lstStyle/>
          <a:p>
            <a:pPr algn="ctr"/>
            <a:r>
              <a:rPr lang="en-US" dirty="0"/>
              <a:t>Abstract</a:t>
            </a:r>
            <a:endParaRPr lang="en-IN" dirty="0"/>
          </a:p>
        </p:txBody>
      </p:sp>
      <p:sp>
        <p:nvSpPr>
          <p:cNvPr id="6" name="Rectangle 2">
            <a:extLst>
              <a:ext uri="{FF2B5EF4-FFF2-40B4-BE49-F238E27FC236}">
                <a16:creationId xmlns:a16="http://schemas.microsoft.com/office/drawing/2014/main" id="{A7C840FA-4AB9-9432-F07B-9ADE9ABEB539}"/>
              </a:ext>
            </a:extLst>
          </p:cNvPr>
          <p:cNvSpPr>
            <a:spLocks noGrp="1" noChangeArrowheads="1"/>
          </p:cNvSpPr>
          <p:nvPr>
            <p:ph idx="1"/>
          </p:nvPr>
        </p:nvSpPr>
        <p:spPr bwMode="auto">
          <a:xfrm>
            <a:off x="542224" y="1188067"/>
            <a:ext cx="11107552" cy="5343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dirty="0"/>
              <a:t>The </a:t>
            </a:r>
            <a:r>
              <a:rPr lang="en-IN" sz="2000" b="1" dirty="0"/>
              <a:t>Hospital Management System</a:t>
            </a:r>
            <a:r>
              <a:rPr lang="en-IN" sz="2000" dirty="0"/>
              <a:t> is a database-based application designed to manage and organize important hospital information in a centralized manner. The system maintains records of patients, doctors, departments, appointments, admissions, treatments, prescriptions, medicines, and bills.</a:t>
            </a:r>
          </a:p>
          <a:p>
            <a:r>
              <a:rPr lang="en-IN" sz="2000" dirty="0"/>
              <a:t>The system uses a relational database where different tables are connected through </a:t>
            </a:r>
            <a:r>
              <a:rPr lang="en-IN" sz="2000" b="1" dirty="0"/>
              <a:t>Primary Keys and Foreign Keys</a:t>
            </a:r>
            <a:r>
              <a:rPr lang="en-IN" sz="2000" dirty="0"/>
              <a:t>. SQL operations such as </a:t>
            </a:r>
            <a:r>
              <a:rPr lang="en-IN" sz="2000" b="1" dirty="0"/>
              <a:t>DDL, DML, DQL, CRUD operations, joins, aggregate functions, and constraints</a:t>
            </a:r>
            <a:r>
              <a:rPr lang="en-IN" sz="2000" dirty="0"/>
              <a:t> can be used to manage and retrieve hospital information.</a:t>
            </a:r>
          </a:p>
          <a:p>
            <a:r>
              <a:rPr lang="en-IN" sz="2000" dirty="0"/>
              <a:t>The main purpose of the system is to reduce manual work, avoid data duplication, maintain data integrity, and provide fast access to accurate hospital records. The database can be further extended with features such as online appointments, automated notifications, electronic medical records, and analytics</a:t>
            </a:r>
            <a:r>
              <a:rPr lang="en-IN" sz="2400"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2911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5202A-5E85-7D37-BE62-4B8E77AB85FA}"/>
              </a:ext>
            </a:extLst>
          </p:cNvPr>
          <p:cNvSpPr>
            <a:spLocks noGrp="1"/>
          </p:cNvSpPr>
          <p:nvPr>
            <p:ph type="title"/>
          </p:nvPr>
        </p:nvSpPr>
        <p:spPr>
          <a:xfrm>
            <a:off x="841248" y="256032"/>
            <a:ext cx="10506456" cy="1014984"/>
          </a:xfrm>
        </p:spPr>
        <p:txBody>
          <a:bodyPr anchor="b">
            <a:normAutofit/>
          </a:bodyPr>
          <a:lstStyle/>
          <a:p>
            <a:r>
              <a:rPr lang="en-IN" dirty="0">
                <a:latin typeface="Times New Roman" panose="02020603050405020304" pitchFamily="18" charset="0"/>
                <a:cs typeface="Times New Roman" panose="02020603050405020304" pitchFamily="18" charset="0"/>
              </a:rPr>
              <a:t>ENTITIES&amp;ATTRIBUTES:</a:t>
            </a:r>
          </a:p>
        </p:txBody>
      </p:sp>
      <p:graphicFrame>
        <p:nvGraphicFramePr>
          <p:cNvPr id="8" name="Content Placeholder 7">
            <a:extLst>
              <a:ext uri="{FF2B5EF4-FFF2-40B4-BE49-F238E27FC236}">
                <a16:creationId xmlns:a16="http://schemas.microsoft.com/office/drawing/2014/main" id="{9BB6799B-1DEF-BEEF-1048-D0C3219BEC92}"/>
              </a:ext>
            </a:extLst>
          </p:cNvPr>
          <p:cNvGraphicFramePr>
            <a:graphicFrameLocks noGrp="1"/>
          </p:cNvGraphicFramePr>
          <p:nvPr>
            <p:ph idx="1"/>
            <p:extLst>
              <p:ext uri="{D42A27DB-BD31-4B8C-83A1-F6EECF244321}">
                <p14:modId xmlns:p14="http://schemas.microsoft.com/office/powerpoint/2010/main" val="105714424"/>
              </p:ext>
            </p:extLst>
          </p:nvPr>
        </p:nvGraphicFramePr>
        <p:xfrm>
          <a:off x="1910771" y="1926266"/>
          <a:ext cx="8370458" cy="4357534"/>
        </p:xfrm>
        <a:graphic>
          <a:graphicData uri="http://schemas.openxmlformats.org/drawingml/2006/table">
            <a:tbl>
              <a:tblPr firstRow="1" bandRow="1">
                <a:tableStyleId>{5C22544A-7EE6-4342-B048-85BDC9FD1C3A}</a:tableStyleId>
              </a:tblPr>
              <a:tblGrid>
                <a:gridCol w="1249859">
                  <a:extLst>
                    <a:ext uri="{9D8B030D-6E8A-4147-A177-3AD203B41FA5}">
                      <a16:colId xmlns:a16="http://schemas.microsoft.com/office/drawing/2014/main" val="1348998219"/>
                    </a:ext>
                  </a:extLst>
                </a:gridCol>
                <a:gridCol w="3500524">
                  <a:extLst>
                    <a:ext uri="{9D8B030D-6E8A-4147-A177-3AD203B41FA5}">
                      <a16:colId xmlns:a16="http://schemas.microsoft.com/office/drawing/2014/main" val="2068864970"/>
                    </a:ext>
                  </a:extLst>
                </a:gridCol>
                <a:gridCol w="3620075">
                  <a:extLst>
                    <a:ext uri="{9D8B030D-6E8A-4147-A177-3AD203B41FA5}">
                      <a16:colId xmlns:a16="http://schemas.microsoft.com/office/drawing/2014/main" val="3184079268"/>
                    </a:ext>
                  </a:extLst>
                </a:gridCol>
              </a:tblGrid>
              <a:tr h="270226">
                <a:tc>
                  <a:txBody>
                    <a:bodyPr/>
                    <a:lstStyle/>
                    <a:p>
                      <a:pPr>
                        <a:buNone/>
                      </a:pPr>
                      <a:r>
                        <a:rPr lang="en-IN" sz="1100"/>
                        <a:t>No.</a:t>
                      </a:r>
                    </a:p>
                  </a:txBody>
                  <a:tcPr marL="55542" marR="55542" marT="27771" marB="27771" anchor="ctr"/>
                </a:tc>
                <a:tc>
                  <a:txBody>
                    <a:bodyPr/>
                    <a:lstStyle/>
                    <a:p>
                      <a:pPr>
                        <a:buNone/>
                      </a:pPr>
                      <a:r>
                        <a:rPr lang="en-IN" sz="1100"/>
                        <a:t>Entity</a:t>
                      </a:r>
                    </a:p>
                  </a:txBody>
                  <a:tcPr marL="55542" marR="55542" marT="27771" marB="27771" anchor="ctr"/>
                </a:tc>
                <a:tc>
                  <a:txBody>
                    <a:bodyPr/>
                    <a:lstStyle/>
                    <a:p>
                      <a:pPr>
                        <a:buNone/>
                      </a:pPr>
                      <a:r>
                        <a:rPr lang="en-IN" sz="1100"/>
                        <a:t>Attributes</a:t>
                      </a:r>
                    </a:p>
                  </a:txBody>
                  <a:tcPr marL="55542" marR="55542" marT="27771" marB="27771" anchor="ctr"/>
                </a:tc>
                <a:extLst>
                  <a:ext uri="{0D108BD9-81ED-4DB2-BD59-A6C34878D82A}">
                    <a16:rowId xmlns:a16="http://schemas.microsoft.com/office/drawing/2014/main" val="684647487"/>
                  </a:ext>
                </a:extLst>
              </a:tr>
              <a:tr h="443357">
                <a:tc>
                  <a:txBody>
                    <a:bodyPr/>
                    <a:lstStyle/>
                    <a:p>
                      <a:pPr>
                        <a:buNone/>
                      </a:pPr>
                      <a:r>
                        <a:rPr lang="en-IN" sz="1100"/>
                        <a:t>1</a:t>
                      </a:r>
                    </a:p>
                  </a:txBody>
                  <a:tcPr marL="55542" marR="55542" marT="27771" marB="27771" anchor="ctr"/>
                </a:tc>
                <a:tc>
                  <a:txBody>
                    <a:bodyPr/>
                    <a:lstStyle/>
                    <a:p>
                      <a:pPr>
                        <a:buNone/>
                      </a:pPr>
                      <a:r>
                        <a:rPr lang="en-IN" sz="1100"/>
                        <a:t>Patient</a:t>
                      </a:r>
                    </a:p>
                  </a:txBody>
                  <a:tcPr marL="55542" marR="55542" marT="27771" marB="27771" anchor="ctr"/>
                </a:tc>
                <a:tc>
                  <a:txBody>
                    <a:bodyPr/>
                    <a:lstStyle/>
                    <a:p>
                      <a:pPr>
                        <a:buNone/>
                      </a:pPr>
                      <a:r>
                        <a:rPr lang="en-IN" sz="1100"/>
                        <a:t>Patient_ID, Name, Gender, Date_of_Birth, Phone, Address</a:t>
                      </a:r>
                    </a:p>
                  </a:txBody>
                  <a:tcPr marL="55542" marR="55542" marT="27771" marB="27771" anchor="ctr"/>
                </a:tc>
                <a:extLst>
                  <a:ext uri="{0D108BD9-81ED-4DB2-BD59-A6C34878D82A}">
                    <a16:rowId xmlns:a16="http://schemas.microsoft.com/office/drawing/2014/main" val="3567906013"/>
                  </a:ext>
                </a:extLst>
              </a:tr>
              <a:tr h="270226">
                <a:tc>
                  <a:txBody>
                    <a:bodyPr/>
                    <a:lstStyle/>
                    <a:p>
                      <a:pPr>
                        <a:buNone/>
                      </a:pPr>
                      <a:r>
                        <a:rPr lang="en-IN" sz="1100"/>
                        <a:t>2</a:t>
                      </a:r>
                    </a:p>
                  </a:txBody>
                  <a:tcPr marL="55542" marR="55542" marT="27771" marB="27771" anchor="ctr"/>
                </a:tc>
                <a:tc>
                  <a:txBody>
                    <a:bodyPr/>
                    <a:lstStyle/>
                    <a:p>
                      <a:pPr>
                        <a:buNone/>
                      </a:pPr>
                      <a:r>
                        <a:rPr lang="en-IN" sz="1100"/>
                        <a:t>Department</a:t>
                      </a:r>
                    </a:p>
                  </a:txBody>
                  <a:tcPr marL="55542" marR="55542" marT="27771" marB="27771" anchor="ctr"/>
                </a:tc>
                <a:tc>
                  <a:txBody>
                    <a:bodyPr/>
                    <a:lstStyle/>
                    <a:p>
                      <a:pPr>
                        <a:buNone/>
                      </a:pPr>
                      <a:r>
                        <a:rPr lang="en-IN" sz="1100"/>
                        <a:t>Department_ID, Department_Name, Location</a:t>
                      </a:r>
                    </a:p>
                  </a:txBody>
                  <a:tcPr marL="55542" marR="55542" marT="27771" marB="27771" anchor="ctr"/>
                </a:tc>
                <a:extLst>
                  <a:ext uri="{0D108BD9-81ED-4DB2-BD59-A6C34878D82A}">
                    <a16:rowId xmlns:a16="http://schemas.microsoft.com/office/drawing/2014/main" val="516004233"/>
                  </a:ext>
                </a:extLst>
              </a:tr>
              <a:tr h="443357">
                <a:tc>
                  <a:txBody>
                    <a:bodyPr/>
                    <a:lstStyle/>
                    <a:p>
                      <a:pPr>
                        <a:buNone/>
                      </a:pPr>
                      <a:r>
                        <a:rPr lang="en-IN" sz="1100"/>
                        <a:t>3</a:t>
                      </a:r>
                    </a:p>
                  </a:txBody>
                  <a:tcPr marL="55542" marR="55542" marT="27771" marB="27771" anchor="ctr"/>
                </a:tc>
                <a:tc>
                  <a:txBody>
                    <a:bodyPr/>
                    <a:lstStyle/>
                    <a:p>
                      <a:pPr>
                        <a:buNone/>
                      </a:pPr>
                      <a:r>
                        <a:rPr lang="en-IN" sz="1100"/>
                        <a:t>Doctor</a:t>
                      </a:r>
                    </a:p>
                  </a:txBody>
                  <a:tcPr marL="55542" marR="55542" marT="27771" marB="27771" anchor="ctr"/>
                </a:tc>
                <a:tc>
                  <a:txBody>
                    <a:bodyPr/>
                    <a:lstStyle/>
                    <a:p>
                      <a:pPr>
                        <a:buNone/>
                      </a:pPr>
                      <a:r>
                        <a:rPr lang="en-IN" sz="1100"/>
                        <a:t>Doctor_ID, Doctor_Name, Specialization, Phone, Department_ID</a:t>
                      </a:r>
                    </a:p>
                  </a:txBody>
                  <a:tcPr marL="55542" marR="55542" marT="27771" marB="27771" anchor="ctr"/>
                </a:tc>
                <a:extLst>
                  <a:ext uri="{0D108BD9-81ED-4DB2-BD59-A6C34878D82A}">
                    <a16:rowId xmlns:a16="http://schemas.microsoft.com/office/drawing/2014/main" val="3340693211"/>
                  </a:ext>
                </a:extLst>
              </a:tr>
              <a:tr h="443357">
                <a:tc>
                  <a:txBody>
                    <a:bodyPr/>
                    <a:lstStyle/>
                    <a:p>
                      <a:pPr>
                        <a:buNone/>
                      </a:pPr>
                      <a:r>
                        <a:rPr lang="en-IN" sz="1100"/>
                        <a:t>4</a:t>
                      </a:r>
                    </a:p>
                  </a:txBody>
                  <a:tcPr marL="55542" marR="55542" marT="27771" marB="27771" anchor="ctr"/>
                </a:tc>
                <a:tc>
                  <a:txBody>
                    <a:bodyPr/>
                    <a:lstStyle/>
                    <a:p>
                      <a:pPr>
                        <a:buNone/>
                      </a:pPr>
                      <a:r>
                        <a:rPr lang="en-IN" sz="1100"/>
                        <a:t>Appointment</a:t>
                      </a:r>
                    </a:p>
                  </a:txBody>
                  <a:tcPr marL="55542" marR="55542" marT="27771" marB="27771" anchor="ctr"/>
                </a:tc>
                <a:tc>
                  <a:txBody>
                    <a:bodyPr/>
                    <a:lstStyle/>
                    <a:p>
                      <a:pPr>
                        <a:buNone/>
                      </a:pPr>
                      <a:r>
                        <a:rPr lang="en-IN" sz="1100"/>
                        <a:t>Appointment_ID, Patient_ID, Doctor_ID, Appointment_Date, Appointment_Time, Status</a:t>
                      </a:r>
                    </a:p>
                  </a:txBody>
                  <a:tcPr marL="55542" marR="55542" marT="27771" marB="27771" anchor="ctr"/>
                </a:tc>
                <a:extLst>
                  <a:ext uri="{0D108BD9-81ED-4DB2-BD59-A6C34878D82A}">
                    <a16:rowId xmlns:a16="http://schemas.microsoft.com/office/drawing/2014/main" val="3113758061"/>
                  </a:ext>
                </a:extLst>
              </a:tr>
              <a:tr h="443357">
                <a:tc>
                  <a:txBody>
                    <a:bodyPr/>
                    <a:lstStyle/>
                    <a:p>
                      <a:pPr>
                        <a:buNone/>
                      </a:pPr>
                      <a:r>
                        <a:rPr lang="en-IN" sz="1100"/>
                        <a:t>5</a:t>
                      </a:r>
                    </a:p>
                  </a:txBody>
                  <a:tcPr marL="55542" marR="55542" marT="27771" marB="27771" anchor="ctr"/>
                </a:tc>
                <a:tc>
                  <a:txBody>
                    <a:bodyPr/>
                    <a:lstStyle/>
                    <a:p>
                      <a:pPr>
                        <a:buNone/>
                      </a:pPr>
                      <a:r>
                        <a:rPr lang="en-IN" sz="1100"/>
                        <a:t>Admission</a:t>
                      </a:r>
                    </a:p>
                  </a:txBody>
                  <a:tcPr marL="55542" marR="55542" marT="27771" marB="27771" anchor="ctr"/>
                </a:tc>
                <a:tc>
                  <a:txBody>
                    <a:bodyPr/>
                    <a:lstStyle/>
                    <a:p>
                      <a:pPr>
                        <a:buNone/>
                      </a:pPr>
                      <a:r>
                        <a:rPr lang="en-IN" sz="1100"/>
                        <a:t>Admission_ID, Patient_ID, Room_No, Admission_Date, Discharge_Date</a:t>
                      </a:r>
                    </a:p>
                  </a:txBody>
                  <a:tcPr marL="55542" marR="55542" marT="27771" marB="27771" anchor="ctr"/>
                </a:tc>
                <a:extLst>
                  <a:ext uri="{0D108BD9-81ED-4DB2-BD59-A6C34878D82A}">
                    <a16:rowId xmlns:a16="http://schemas.microsoft.com/office/drawing/2014/main" val="2318869689"/>
                  </a:ext>
                </a:extLst>
              </a:tr>
              <a:tr h="443357">
                <a:tc>
                  <a:txBody>
                    <a:bodyPr/>
                    <a:lstStyle/>
                    <a:p>
                      <a:pPr>
                        <a:buNone/>
                      </a:pPr>
                      <a:r>
                        <a:rPr lang="en-IN" sz="1100"/>
                        <a:t>6</a:t>
                      </a:r>
                    </a:p>
                  </a:txBody>
                  <a:tcPr marL="55542" marR="55542" marT="27771" marB="27771" anchor="ctr"/>
                </a:tc>
                <a:tc>
                  <a:txBody>
                    <a:bodyPr/>
                    <a:lstStyle/>
                    <a:p>
                      <a:pPr>
                        <a:buNone/>
                      </a:pPr>
                      <a:r>
                        <a:rPr lang="en-IN" sz="1100"/>
                        <a:t>Treatment</a:t>
                      </a:r>
                    </a:p>
                  </a:txBody>
                  <a:tcPr marL="55542" marR="55542" marT="27771" marB="27771" anchor="ctr"/>
                </a:tc>
                <a:tc>
                  <a:txBody>
                    <a:bodyPr/>
                    <a:lstStyle/>
                    <a:p>
                      <a:pPr>
                        <a:buNone/>
                      </a:pPr>
                      <a:r>
                        <a:rPr lang="en-IN" sz="1100"/>
                        <a:t>Treatment_ID, Patient_ID, Doctor_ID, Diagnosis, Treatment_Date, Description</a:t>
                      </a:r>
                    </a:p>
                  </a:txBody>
                  <a:tcPr marL="55542" marR="55542" marT="27771" marB="27771" anchor="ctr"/>
                </a:tc>
                <a:extLst>
                  <a:ext uri="{0D108BD9-81ED-4DB2-BD59-A6C34878D82A}">
                    <a16:rowId xmlns:a16="http://schemas.microsoft.com/office/drawing/2014/main" val="512785975"/>
                  </a:ext>
                </a:extLst>
              </a:tr>
              <a:tr h="443357">
                <a:tc>
                  <a:txBody>
                    <a:bodyPr/>
                    <a:lstStyle/>
                    <a:p>
                      <a:pPr>
                        <a:buNone/>
                      </a:pPr>
                      <a:r>
                        <a:rPr lang="en-IN" sz="1100"/>
                        <a:t>7</a:t>
                      </a:r>
                    </a:p>
                  </a:txBody>
                  <a:tcPr marL="55542" marR="55542" marT="27771" marB="27771" anchor="ctr"/>
                </a:tc>
                <a:tc>
                  <a:txBody>
                    <a:bodyPr/>
                    <a:lstStyle/>
                    <a:p>
                      <a:pPr>
                        <a:buNone/>
                      </a:pPr>
                      <a:r>
                        <a:rPr lang="en-IN" sz="1100"/>
                        <a:t>Prescription</a:t>
                      </a:r>
                    </a:p>
                  </a:txBody>
                  <a:tcPr marL="55542" marR="55542" marT="27771" marB="27771" anchor="ctr"/>
                </a:tc>
                <a:tc>
                  <a:txBody>
                    <a:bodyPr/>
                    <a:lstStyle/>
                    <a:p>
                      <a:pPr>
                        <a:buNone/>
                      </a:pPr>
                      <a:r>
                        <a:rPr lang="en-IN" sz="1100"/>
                        <a:t>Prescription_ID, Patient_ID, Doctor_ID, Prescription_Date</a:t>
                      </a:r>
                    </a:p>
                  </a:txBody>
                  <a:tcPr marL="55542" marR="55542" marT="27771" marB="27771" anchor="ctr"/>
                </a:tc>
                <a:extLst>
                  <a:ext uri="{0D108BD9-81ED-4DB2-BD59-A6C34878D82A}">
                    <a16:rowId xmlns:a16="http://schemas.microsoft.com/office/drawing/2014/main" val="2013623001"/>
                  </a:ext>
                </a:extLst>
              </a:tr>
              <a:tr h="270226">
                <a:tc>
                  <a:txBody>
                    <a:bodyPr/>
                    <a:lstStyle/>
                    <a:p>
                      <a:pPr>
                        <a:buNone/>
                      </a:pPr>
                      <a:r>
                        <a:rPr lang="en-IN" sz="1100"/>
                        <a:t>8</a:t>
                      </a:r>
                    </a:p>
                  </a:txBody>
                  <a:tcPr marL="55542" marR="55542" marT="27771" marB="27771" anchor="ctr"/>
                </a:tc>
                <a:tc>
                  <a:txBody>
                    <a:bodyPr/>
                    <a:lstStyle/>
                    <a:p>
                      <a:pPr>
                        <a:buNone/>
                      </a:pPr>
                      <a:r>
                        <a:rPr lang="en-IN" sz="1100"/>
                        <a:t>Medicine</a:t>
                      </a:r>
                    </a:p>
                  </a:txBody>
                  <a:tcPr marL="55542" marR="55542" marT="27771" marB="27771" anchor="ctr"/>
                </a:tc>
                <a:tc>
                  <a:txBody>
                    <a:bodyPr/>
                    <a:lstStyle/>
                    <a:p>
                      <a:pPr>
                        <a:buNone/>
                      </a:pPr>
                      <a:r>
                        <a:rPr lang="en-IN" sz="1100"/>
                        <a:t>Medicine_ID, Medicine_Name, Price, Stock</a:t>
                      </a:r>
                    </a:p>
                  </a:txBody>
                  <a:tcPr marL="55542" marR="55542" marT="27771" marB="27771" anchor="ctr"/>
                </a:tc>
                <a:extLst>
                  <a:ext uri="{0D108BD9-81ED-4DB2-BD59-A6C34878D82A}">
                    <a16:rowId xmlns:a16="http://schemas.microsoft.com/office/drawing/2014/main" val="2252749206"/>
                  </a:ext>
                </a:extLst>
              </a:tr>
              <a:tr h="443357">
                <a:tc>
                  <a:txBody>
                    <a:bodyPr/>
                    <a:lstStyle/>
                    <a:p>
                      <a:pPr>
                        <a:buNone/>
                      </a:pPr>
                      <a:r>
                        <a:rPr lang="en-IN" sz="1100"/>
                        <a:t>9</a:t>
                      </a:r>
                    </a:p>
                  </a:txBody>
                  <a:tcPr marL="55542" marR="55542" marT="27771" marB="27771" anchor="ctr"/>
                </a:tc>
                <a:tc>
                  <a:txBody>
                    <a:bodyPr/>
                    <a:lstStyle/>
                    <a:p>
                      <a:pPr>
                        <a:buNone/>
                      </a:pPr>
                      <a:r>
                        <a:rPr lang="en-IN" sz="1100"/>
                        <a:t>Prescription_Item</a:t>
                      </a:r>
                    </a:p>
                  </a:txBody>
                  <a:tcPr marL="55542" marR="55542" marT="27771" marB="27771" anchor="ctr"/>
                </a:tc>
                <a:tc>
                  <a:txBody>
                    <a:bodyPr/>
                    <a:lstStyle/>
                    <a:p>
                      <a:pPr>
                        <a:buNone/>
                      </a:pPr>
                      <a:r>
                        <a:rPr lang="en-IN" sz="1100"/>
                        <a:t>Prescription_Item_ID, Prescription_ID, Medicine_ID, Quantity, Dosage</a:t>
                      </a:r>
                    </a:p>
                  </a:txBody>
                  <a:tcPr marL="55542" marR="55542" marT="27771" marB="27771" anchor="ctr"/>
                </a:tc>
                <a:extLst>
                  <a:ext uri="{0D108BD9-81ED-4DB2-BD59-A6C34878D82A}">
                    <a16:rowId xmlns:a16="http://schemas.microsoft.com/office/drawing/2014/main" val="1488553008"/>
                  </a:ext>
                </a:extLst>
              </a:tr>
              <a:tr h="443357">
                <a:tc>
                  <a:txBody>
                    <a:bodyPr/>
                    <a:lstStyle/>
                    <a:p>
                      <a:pPr>
                        <a:buNone/>
                      </a:pPr>
                      <a:r>
                        <a:rPr lang="en-IN" sz="1100"/>
                        <a:t>10</a:t>
                      </a:r>
                    </a:p>
                  </a:txBody>
                  <a:tcPr marL="55542" marR="55542" marT="27771" marB="27771" anchor="ctr"/>
                </a:tc>
                <a:tc>
                  <a:txBody>
                    <a:bodyPr/>
                    <a:lstStyle/>
                    <a:p>
                      <a:pPr>
                        <a:buNone/>
                      </a:pPr>
                      <a:r>
                        <a:rPr lang="en-IN" sz="1100"/>
                        <a:t>Bill</a:t>
                      </a:r>
                    </a:p>
                  </a:txBody>
                  <a:tcPr marL="55542" marR="55542" marT="27771" marB="27771" anchor="ctr"/>
                </a:tc>
                <a:tc>
                  <a:txBody>
                    <a:bodyPr/>
                    <a:lstStyle/>
                    <a:p>
                      <a:pPr>
                        <a:buNone/>
                      </a:pPr>
                      <a:r>
                        <a:rPr lang="en-IN" sz="1100"/>
                        <a:t>Bill_ID, Patient_ID, Bill_Date, Total_Amount, Payment_Status</a:t>
                      </a:r>
                    </a:p>
                  </a:txBody>
                  <a:tcPr marL="55542" marR="55542" marT="27771" marB="27771" anchor="ctr"/>
                </a:tc>
                <a:extLst>
                  <a:ext uri="{0D108BD9-81ED-4DB2-BD59-A6C34878D82A}">
                    <a16:rowId xmlns:a16="http://schemas.microsoft.com/office/drawing/2014/main" val="3235538933"/>
                  </a:ext>
                </a:extLst>
              </a:tr>
            </a:tbl>
          </a:graphicData>
        </a:graphic>
      </p:graphicFrame>
    </p:spTree>
    <p:extLst>
      <p:ext uri="{BB962C8B-B14F-4D97-AF65-F5344CB8AC3E}">
        <p14:creationId xmlns:p14="http://schemas.microsoft.com/office/powerpoint/2010/main" val="3734862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8C63BF-51A6-8693-B4AB-8B39F9BE2C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240" y="0"/>
            <a:ext cx="11324492" cy="6858000"/>
          </a:xfrm>
          <a:prstGeom prst="rect">
            <a:avLst/>
          </a:prstGeom>
        </p:spPr>
      </p:pic>
    </p:spTree>
    <p:extLst>
      <p:ext uri="{BB962C8B-B14F-4D97-AF65-F5344CB8AC3E}">
        <p14:creationId xmlns:p14="http://schemas.microsoft.com/office/powerpoint/2010/main" val="2144665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3E9229DB-3281-F12E-7C95-7537C20E92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2080" y="378663"/>
            <a:ext cx="10959402" cy="6223104"/>
          </a:xfrm>
          <a:prstGeom prst="rect">
            <a:avLst/>
          </a:prstGeom>
        </p:spPr>
      </p:pic>
    </p:spTree>
    <p:extLst>
      <p:ext uri="{BB962C8B-B14F-4D97-AF65-F5344CB8AC3E}">
        <p14:creationId xmlns:p14="http://schemas.microsoft.com/office/powerpoint/2010/main" val="1050086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BA2D4-560F-AD39-689D-7A82F55F92E2}"/>
              </a:ext>
            </a:extLst>
          </p:cNvPr>
          <p:cNvSpPr>
            <a:spLocks noGrp="1"/>
          </p:cNvSpPr>
          <p:nvPr>
            <p:ph type="title"/>
          </p:nvPr>
        </p:nvSpPr>
        <p:spPr>
          <a:xfrm>
            <a:off x="838200" y="86627"/>
            <a:ext cx="10515600" cy="798897"/>
          </a:xfrm>
        </p:spPr>
        <p:txBody>
          <a:bodyPr/>
          <a:lstStyle/>
          <a:p>
            <a:pPr algn="ctr"/>
            <a:r>
              <a:rPr lang="en-IN" dirty="0">
                <a:latin typeface="Times New Roman" panose="02020603050405020304" pitchFamily="18" charset="0"/>
                <a:cs typeface="Times New Roman" panose="02020603050405020304" pitchFamily="18" charset="0"/>
              </a:rPr>
              <a:t>PRIMARY&amp;FOREIGN KEYS:</a:t>
            </a:r>
          </a:p>
        </p:txBody>
      </p:sp>
      <p:graphicFrame>
        <p:nvGraphicFramePr>
          <p:cNvPr id="6" name="Content Placeholder 5">
            <a:extLst>
              <a:ext uri="{FF2B5EF4-FFF2-40B4-BE49-F238E27FC236}">
                <a16:creationId xmlns:a16="http://schemas.microsoft.com/office/drawing/2014/main" id="{C033CE34-DD5D-21BD-C2F2-8CDEF9D80CE0}"/>
              </a:ext>
            </a:extLst>
          </p:cNvPr>
          <p:cNvGraphicFramePr>
            <a:graphicFrameLocks noGrp="1"/>
          </p:cNvGraphicFramePr>
          <p:nvPr>
            <p:ph idx="1"/>
          </p:nvPr>
        </p:nvGraphicFramePr>
        <p:xfrm>
          <a:off x="838200" y="1989614"/>
          <a:ext cx="10515600" cy="402336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2578499629"/>
                    </a:ext>
                  </a:extLst>
                </a:gridCol>
                <a:gridCol w="3505200">
                  <a:extLst>
                    <a:ext uri="{9D8B030D-6E8A-4147-A177-3AD203B41FA5}">
                      <a16:colId xmlns:a16="http://schemas.microsoft.com/office/drawing/2014/main" val="1002644183"/>
                    </a:ext>
                  </a:extLst>
                </a:gridCol>
                <a:gridCol w="3505200">
                  <a:extLst>
                    <a:ext uri="{9D8B030D-6E8A-4147-A177-3AD203B41FA5}">
                      <a16:colId xmlns:a16="http://schemas.microsoft.com/office/drawing/2014/main" val="2222096404"/>
                    </a:ext>
                  </a:extLst>
                </a:gridCol>
              </a:tblGrid>
              <a:tr h="0">
                <a:tc>
                  <a:txBody>
                    <a:bodyPr/>
                    <a:lstStyle/>
                    <a:p>
                      <a:pPr>
                        <a:buNone/>
                      </a:pPr>
                      <a:r>
                        <a:rPr lang="en-IN"/>
                        <a:t>Table</a:t>
                      </a:r>
                    </a:p>
                  </a:txBody>
                  <a:tcPr anchor="ctr"/>
                </a:tc>
                <a:tc>
                  <a:txBody>
                    <a:bodyPr/>
                    <a:lstStyle/>
                    <a:p>
                      <a:pPr>
                        <a:buNone/>
                      </a:pPr>
                      <a:r>
                        <a:rPr lang="en-IN"/>
                        <a:t>Primary Key</a:t>
                      </a:r>
                    </a:p>
                  </a:txBody>
                  <a:tcPr anchor="ctr"/>
                </a:tc>
                <a:tc>
                  <a:txBody>
                    <a:bodyPr/>
                    <a:lstStyle/>
                    <a:p>
                      <a:pPr>
                        <a:buNone/>
                      </a:pPr>
                      <a:r>
                        <a:rPr lang="en-IN"/>
                        <a:t>Foreign Key</a:t>
                      </a:r>
                    </a:p>
                  </a:txBody>
                  <a:tcPr anchor="ctr"/>
                </a:tc>
                <a:extLst>
                  <a:ext uri="{0D108BD9-81ED-4DB2-BD59-A6C34878D82A}">
                    <a16:rowId xmlns:a16="http://schemas.microsoft.com/office/drawing/2014/main" val="1191854888"/>
                  </a:ext>
                </a:extLst>
              </a:tr>
              <a:tr h="0">
                <a:tc>
                  <a:txBody>
                    <a:bodyPr/>
                    <a:lstStyle/>
                    <a:p>
                      <a:pPr>
                        <a:buNone/>
                      </a:pPr>
                      <a:r>
                        <a:rPr lang="en-IN"/>
                        <a:t>Patient</a:t>
                      </a:r>
                    </a:p>
                  </a:txBody>
                  <a:tcPr anchor="ctr"/>
                </a:tc>
                <a:tc>
                  <a:txBody>
                    <a:bodyPr/>
                    <a:lstStyle/>
                    <a:p>
                      <a:pPr>
                        <a:buNone/>
                      </a:pPr>
                      <a:r>
                        <a:rPr lang="en-IN"/>
                        <a:t>Patient_ID</a:t>
                      </a:r>
                    </a:p>
                  </a:txBody>
                  <a:tcPr anchor="ctr"/>
                </a:tc>
                <a:tc>
                  <a:txBody>
                    <a:bodyPr/>
                    <a:lstStyle/>
                    <a:p>
                      <a:pPr>
                        <a:buNone/>
                      </a:pPr>
                      <a:r>
                        <a:rPr lang="en-IN"/>
                        <a:t>—</a:t>
                      </a:r>
                    </a:p>
                  </a:txBody>
                  <a:tcPr anchor="ctr"/>
                </a:tc>
                <a:extLst>
                  <a:ext uri="{0D108BD9-81ED-4DB2-BD59-A6C34878D82A}">
                    <a16:rowId xmlns:a16="http://schemas.microsoft.com/office/drawing/2014/main" val="3993821718"/>
                  </a:ext>
                </a:extLst>
              </a:tr>
              <a:tr h="0">
                <a:tc>
                  <a:txBody>
                    <a:bodyPr/>
                    <a:lstStyle/>
                    <a:p>
                      <a:pPr>
                        <a:buNone/>
                      </a:pPr>
                      <a:r>
                        <a:rPr lang="en-IN"/>
                        <a:t>Department</a:t>
                      </a:r>
                    </a:p>
                  </a:txBody>
                  <a:tcPr anchor="ctr"/>
                </a:tc>
                <a:tc>
                  <a:txBody>
                    <a:bodyPr/>
                    <a:lstStyle/>
                    <a:p>
                      <a:pPr>
                        <a:buNone/>
                      </a:pPr>
                      <a:r>
                        <a:rPr lang="en-IN"/>
                        <a:t>Department_ID</a:t>
                      </a:r>
                    </a:p>
                  </a:txBody>
                  <a:tcPr anchor="ctr"/>
                </a:tc>
                <a:tc>
                  <a:txBody>
                    <a:bodyPr/>
                    <a:lstStyle/>
                    <a:p>
                      <a:pPr>
                        <a:buNone/>
                      </a:pPr>
                      <a:r>
                        <a:rPr lang="en-IN"/>
                        <a:t>—</a:t>
                      </a:r>
                    </a:p>
                  </a:txBody>
                  <a:tcPr anchor="ctr"/>
                </a:tc>
                <a:extLst>
                  <a:ext uri="{0D108BD9-81ED-4DB2-BD59-A6C34878D82A}">
                    <a16:rowId xmlns:a16="http://schemas.microsoft.com/office/drawing/2014/main" val="3172325068"/>
                  </a:ext>
                </a:extLst>
              </a:tr>
              <a:tr h="0">
                <a:tc>
                  <a:txBody>
                    <a:bodyPr/>
                    <a:lstStyle/>
                    <a:p>
                      <a:pPr>
                        <a:buNone/>
                      </a:pPr>
                      <a:r>
                        <a:rPr lang="en-IN"/>
                        <a:t>Doctor</a:t>
                      </a:r>
                    </a:p>
                  </a:txBody>
                  <a:tcPr anchor="ctr"/>
                </a:tc>
                <a:tc>
                  <a:txBody>
                    <a:bodyPr/>
                    <a:lstStyle/>
                    <a:p>
                      <a:pPr>
                        <a:buNone/>
                      </a:pPr>
                      <a:r>
                        <a:rPr lang="en-IN"/>
                        <a:t>Doctor_ID</a:t>
                      </a:r>
                    </a:p>
                  </a:txBody>
                  <a:tcPr anchor="ctr"/>
                </a:tc>
                <a:tc>
                  <a:txBody>
                    <a:bodyPr/>
                    <a:lstStyle/>
                    <a:p>
                      <a:pPr>
                        <a:buNone/>
                      </a:pPr>
                      <a:r>
                        <a:rPr lang="en-IN"/>
                        <a:t>Department_ID</a:t>
                      </a:r>
                    </a:p>
                  </a:txBody>
                  <a:tcPr anchor="ctr"/>
                </a:tc>
                <a:extLst>
                  <a:ext uri="{0D108BD9-81ED-4DB2-BD59-A6C34878D82A}">
                    <a16:rowId xmlns:a16="http://schemas.microsoft.com/office/drawing/2014/main" val="371131516"/>
                  </a:ext>
                </a:extLst>
              </a:tr>
              <a:tr h="0">
                <a:tc>
                  <a:txBody>
                    <a:bodyPr/>
                    <a:lstStyle/>
                    <a:p>
                      <a:pPr>
                        <a:buNone/>
                      </a:pPr>
                      <a:r>
                        <a:rPr lang="en-IN"/>
                        <a:t>Appointment</a:t>
                      </a:r>
                    </a:p>
                  </a:txBody>
                  <a:tcPr anchor="ctr"/>
                </a:tc>
                <a:tc>
                  <a:txBody>
                    <a:bodyPr/>
                    <a:lstStyle/>
                    <a:p>
                      <a:pPr>
                        <a:buNone/>
                      </a:pPr>
                      <a:r>
                        <a:rPr lang="en-IN"/>
                        <a:t>Appointment_ID</a:t>
                      </a:r>
                    </a:p>
                  </a:txBody>
                  <a:tcPr anchor="ctr"/>
                </a:tc>
                <a:tc>
                  <a:txBody>
                    <a:bodyPr/>
                    <a:lstStyle/>
                    <a:p>
                      <a:pPr>
                        <a:buNone/>
                      </a:pPr>
                      <a:r>
                        <a:rPr lang="en-IN"/>
                        <a:t>Patient_ID, Doctor_ID</a:t>
                      </a:r>
                    </a:p>
                  </a:txBody>
                  <a:tcPr anchor="ctr"/>
                </a:tc>
                <a:extLst>
                  <a:ext uri="{0D108BD9-81ED-4DB2-BD59-A6C34878D82A}">
                    <a16:rowId xmlns:a16="http://schemas.microsoft.com/office/drawing/2014/main" val="2814164949"/>
                  </a:ext>
                </a:extLst>
              </a:tr>
              <a:tr h="0">
                <a:tc>
                  <a:txBody>
                    <a:bodyPr/>
                    <a:lstStyle/>
                    <a:p>
                      <a:pPr>
                        <a:buNone/>
                      </a:pPr>
                      <a:r>
                        <a:rPr lang="en-IN"/>
                        <a:t>Admission</a:t>
                      </a:r>
                    </a:p>
                  </a:txBody>
                  <a:tcPr anchor="ctr"/>
                </a:tc>
                <a:tc>
                  <a:txBody>
                    <a:bodyPr/>
                    <a:lstStyle/>
                    <a:p>
                      <a:pPr>
                        <a:buNone/>
                      </a:pPr>
                      <a:r>
                        <a:rPr lang="en-IN"/>
                        <a:t>Admission_ID</a:t>
                      </a:r>
                    </a:p>
                  </a:txBody>
                  <a:tcPr anchor="ctr"/>
                </a:tc>
                <a:tc>
                  <a:txBody>
                    <a:bodyPr/>
                    <a:lstStyle/>
                    <a:p>
                      <a:pPr>
                        <a:buNone/>
                      </a:pPr>
                      <a:r>
                        <a:rPr lang="en-IN"/>
                        <a:t>Patient_ID</a:t>
                      </a:r>
                    </a:p>
                  </a:txBody>
                  <a:tcPr anchor="ctr"/>
                </a:tc>
                <a:extLst>
                  <a:ext uri="{0D108BD9-81ED-4DB2-BD59-A6C34878D82A}">
                    <a16:rowId xmlns:a16="http://schemas.microsoft.com/office/drawing/2014/main" val="78815883"/>
                  </a:ext>
                </a:extLst>
              </a:tr>
              <a:tr h="0">
                <a:tc>
                  <a:txBody>
                    <a:bodyPr/>
                    <a:lstStyle/>
                    <a:p>
                      <a:pPr>
                        <a:buNone/>
                      </a:pPr>
                      <a:endParaRPr lang="en-IN"/>
                    </a:p>
                  </a:txBody>
                  <a:tcPr anchor="ctr"/>
                </a:tc>
                <a:tc>
                  <a:txBody>
                    <a:bodyPr/>
                    <a:lstStyle/>
                    <a:p>
                      <a:pPr>
                        <a:buNone/>
                      </a:pPr>
                      <a:r>
                        <a:rPr lang="en-IN"/>
                        <a:t>Treatment_ID</a:t>
                      </a:r>
                    </a:p>
                  </a:txBody>
                  <a:tcPr anchor="ctr"/>
                </a:tc>
                <a:tc>
                  <a:txBody>
                    <a:bodyPr/>
                    <a:lstStyle/>
                    <a:p>
                      <a:pPr>
                        <a:buNone/>
                      </a:pPr>
                      <a:r>
                        <a:rPr lang="en-IN"/>
                        <a:t>Patient_ID, Doctor_ID</a:t>
                      </a:r>
                    </a:p>
                  </a:txBody>
                  <a:tcPr anchor="ctr"/>
                </a:tc>
                <a:extLst>
                  <a:ext uri="{0D108BD9-81ED-4DB2-BD59-A6C34878D82A}">
                    <a16:rowId xmlns:a16="http://schemas.microsoft.com/office/drawing/2014/main" val="3664583433"/>
                  </a:ext>
                </a:extLst>
              </a:tr>
              <a:tr h="0">
                <a:tc>
                  <a:txBody>
                    <a:bodyPr/>
                    <a:lstStyle/>
                    <a:p>
                      <a:pPr>
                        <a:buNone/>
                      </a:pPr>
                      <a:r>
                        <a:rPr lang="en-IN"/>
                        <a:t>Prescription</a:t>
                      </a:r>
                    </a:p>
                  </a:txBody>
                  <a:tcPr anchor="ctr"/>
                </a:tc>
                <a:tc>
                  <a:txBody>
                    <a:bodyPr/>
                    <a:lstStyle/>
                    <a:p>
                      <a:pPr>
                        <a:buNone/>
                      </a:pPr>
                      <a:r>
                        <a:rPr lang="en-IN"/>
                        <a:t>Prescription_ID</a:t>
                      </a:r>
                    </a:p>
                  </a:txBody>
                  <a:tcPr anchor="ctr"/>
                </a:tc>
                <a:tc>
                  <a:txBody>
                    <a:bodyPr/>
                    <a:lstStyle/>
                    <a:p>
                      <a:pPr>
                        <a:buNone/>
                      </a:pPr>
                      <a:r>
                        <a:rPr lang="en-IN"/>
                        <a:t>Patient_ID, Doctor_ID</a:t>
                      </a:r>
                    </a:p>
                  </a:txBody>
                  <a:tcPr anchor="ctr"/>
                </a:tc>
                <a:extLst>
                  <a:ext uri="{0D108BD9-81ED-4DB2-BD59-A6C34878D82A}">
                    <a16:rowId xmlns:a16="http://schemas.microsoft.com/office/drawing/2014/main" val="1392855403"/>
                  </a:ext>
                </a:extLst>
              </a:tr>
              <a:tr h="0">
                <a:tc>
                  <a:txBody>
                    <a:bodyPr/>
                    <a:lstStyle/>
                    <a:p>
                      <a:pPr>
                        <a:buNone/>
                      </a:pPr>
                      <a:r>
                        <a:rPr lang="en-IN"/>
                        <a:t>Medicine</a:t>
                      </a:r>
                    </a:p>
                  </a:txBody>
                  <a:tcPr anchor="ctr"/>
                </a:tc>
                <a:tc>
                  <a:txBody>
                    <a:bodyPr/>
                    <a:lstStyle/>
                    <a:p>
                      <a:pPr>
                        <a:buNone/>
                      </a:pPr>
                      <a:r>
                        <a:rPr lang="en-IN"/>
                        <a:t>Medicine_ID</a:t>
                      </a:r>
                    </a:p>
                  </a:txBody>
                  <a:tcPr anchor="ctr"/>
                </a:tc>
                <a:tc>
                  <a:txBody>
                    <a:bodyPr/>
                    <a:lstStyle/>
                    <a:p>
                      <a:pPr>
                        <a:buNone/>
                      </a:pPr>
                      <a:r>
                        <a:rPr lang="en-IN"/>
                        <a:t>—</a:t>
                      </a:r>
                    </a:p>
                  </a:txBody>
                  <a:tcPr anchor="ctr"/>
                </a:tc>
                <a:extLst>
                  <a:ext uri="{0D108BD9-81ED-4DB2-BD59-A6C34878D82A}">
                    <a16:rowId xmlns:a16="http://schemas.microsoft.com/office/drawing/2014/main" val="3244334146"/>
                  </a:ext>
                </a:extLst>
              </a:tr>
              <a:tr h="0">
                <a:tc>
                  <a:txBody>
                    <a:bodyPr/>
                    <a:lstStyle/>
                    <a:p>
                      <a:pPr>
                        <a:buNone/>
                      </a:pPr>
                      <a:r>
                        <a:rPr lang="en-IN"/>
                        <a:t>Prescription_Item</a:t>
                      </a:r>
                    </a:p>
                  </a:txBody>
                  <a:tcPr anchor="ctr"/>
                </a:tc>
                <a:tc>
                  <a:txBody>
                    <a:bodyPr/>
                    <a:lstStyle/>
                    <a:p>
                      <a:pPr>
                        <a:buNone/>
                      </a:pPr>
                      <a:r>
                        <a:rPr lang="en-IN"/>
                        <a:t>Prescription_Item_ID</a:t>
                      </a:r>
                    </a:p>
                  </a:txBody>
                  <a:tcPr anchor="ctr"/>
                </a:tc>
                <a:tc>
                  <a:txBody>
                    <a:bodyPr/>
                    <a:lstStyle/>
                    <a:p>
                      <a:pPr>
                        <a:buNone/>
                      </a:pPr>
                      <a:r>
                        <a:rPr lang="en-IN"/>
                        <a:t>Prescription_ID, Medicine_ID</a:t>
                      </a:r>
                    </a:p>
                  </a:txBody>
                  <a:tcPr anchor="ctr"/>
                </a:tc>
                <a:extLst>
                  <a:ext uri="{0D108BD9-81ED-4DB2-BD59-A6C34878D82A}">
                    <a16:rowId xmlns:a16="http://schemas.microsoft.com/office/drawing/2014/main" val="3308069704"/>
                  </a:ext>
                </a:extLst>
              </a:tr>
              <a:tr h="0">
                <a:tc>
                  <a:txBody>
                    <a:bodyPr/>
                    <a:lstStyle/>
                    <a:p>
                      <a:pPr>
                        <a:buNone/>
                      </a:pPr>
                      <a:r>
                        <a:rPr lang="en-IN"/>
                        <a:t>Bill</a:t>
                      </a:r>
                    </a:p>
                  </a:txBody>
                  <a:tcPr anchor="ctr"/>
                </a:tc>
                <a:tc>
                  <a:txBody>
                    <a:bodyPr/>
                    <a:lstStyle/>
                    <a:p>
                      <a:pPr>
                        <a:buNone/>
                      </a:pPr>
                      <a:r>
                        <a:rPr lang="en-IN"/>
                        <a:t>Bill_ID</a:t>
                      </a:r>
                    </a:p>
                  </a:txBody>
                  <a:tcPr anchor="ctr"/>
                </a:tc>
                <a:tc>
                  <a:txBody>
                    <a:bodyPr/>
                    <a:lstStyle/>
                    <a:p>
                      <a:pPr>
                        <a:buNone/>
                      </a:pPr>
                      <a:r>
                        <a:rPr lang="en-IN" dirty="0" err="1"/>
                        <a:t>Patient_ID</a:t>
                      </a:r>
                      <a:endParaRPr lang="en-IN" dirty="0"/>
                    </a:p>
                  </a:txBody>
                  <a:tcPr anchor="ctr"/>
                </a:tc>
                <a:extLst>
                  <a:ext uri="{0D108BD9-81ED-4DB2-BD59-A6C34878D82A}">
                    <a16:rowId xmlns:a16="http://schemas.microsoft.com/office/drawing/2014/main" val="3766718856"/>
                  </a:ext>
                </a:extLst>
              </a:tr>
            </a:tbl>
          </a:graphicData>
        </a:graphic>
      </p:graphicFrame>
    </p:spTree>
    <p:extLst>
      <p:ext uri="{BB962C8B-B14F-4D97-AF65-F5344CB8AC3E}">
        <p14:creationId xmlns:p14="http://schemas.microsoft.com/office/powerpoint/2010/main" val="532554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3F4FA2B-C8D4-8F93-5FA0-94ABADB700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050"/>
            <a:ext cx="12192000" cy="6819900"/>
          </a:xfrm>
          <a:prstGeom prst="rect">
            <a:avLst/>
          </a:prstGeom>
        </p:spPr>
      </p:pic>
    </p:spTree>
    <p:extLst>
      <p:ext uri="{BB962C8B-B14F-4D97-AF65-F5344CB8AC3E}">
        <p14:creationId xmlns:p14="http://schemas.microsoft.com/office/powerpoint/2010/main" val="1011142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AFF8A-88B9-758B-30CC-3D52E0C7CDB9}"/>
              </a:ext>
            </a:extLst>
          </p:cNvPr>
          <p:cNvSpPr>
            <a:spLocks noGrp="1"/>
          </p:cNvSpPr>
          <p:nvPr>
            <p:ph type="title"/>
          </p:nvPr>
        </p:nvSpPr>
        <p:spPr>
          <a:xfrm>
            <a:off x="838200" y="125130"/>
            <a:ext cx="10515600" cy="721894"/>
          </a:xfrm>
        </p:spPr>
        <p:txBody>
          <a:bodyPr/>
          <a:lstStyle/>
          <a:p>
            <a:pPr algn="ctr"/>
            <a:r>
              <a:rPr lang="en-IN" dirty="0">
                <a:latin typeface="Times New Roman" panose="02020603050405020304" pitchFamily="18" charset="0"/>
                <a:cs typeface="Times New Roman" panose="02020603050405020304" pitchFamily="18" charset="0"/>
              </a:rPr>
              <a:t>DATABASE&amp;CONSTRAINTS:</a:t>
            </a:r>
          </a:p>
        </p:txBody>
      </p:sp>
      <p:sp>
        <p:nvSpPr>
          <p:cNvPr id="9" name="Content Placeholder 8">
            <a:extLst>
              <a:ext uri="{FF2B5EF4-FFF2-40B4-BE49-F238E27FC236}">
                <a16:creationId xmlns:a16="http://schemas.microsoft.com/office/drawing/2014/main" id="{4EBCDCFB-EDA2-B998-F96E-45ABA1AEFDE9}"/>
              </a:ext>
            </a:extLst>
          </p:cNvPr>
          <p:cNvSpPr>
            <a:spLocks noGrp="1"/>
          </p:cNvSpPr>
          <p:nvPr>
            <p:ph idx="1"/>
          </p:nvPr>
        </p:nvSpPr>
        <p:spPr>
          <a:xfrm>
            <a:off x="577516" y="847024"/>
            <a:ext cx="10776284" cy="5765532"/>
          </a:xfrm>
        </p:spPr>
        <p:txBody>
          <a:bodyPr>
            <a:normAutofit/>
          </a:bodyPr>
          <a:lstStyle/>
          <a:p>
            <a:r>
              <a:rPr lang="en-IN" b="1" dirty="0">
                <a:latin typeface="Times New Roman" panose="02020603050405020304" pitchFamily="18" charset="0"/>
                <a:cs typeface="Times New Roman" panose="02020603050405020304" pitchFamily="18" charset="0"/>
              </a:rPr>
              <a:t>Create Database</a:t>
            </a:r>
          </a:p>
          <a:p>
            <a:r>
              <a:rPr lang="en-IN" dirty="0">
                <a:latin typeface="Times New Roman" panose="02020603050405020304" pitchFamily="18" charset="0"/>
                <a:cs typeface="Times New Roman" panose="02020603050405020304" pitchFamily="18" charset="0"/>
              </a:rPr>
              <a:t>CREATE DATABASE </a:t>
            </a:r>
            <a:r>
              <a:rPr lang="en-IN" dirty="0" err="1">
                <a:latin typeface="Times New Roman" panose="02020603050405020304" pitchFamily="18" charset="0"/>
                <a:cs typeface="Times New Roman" panose="02020603050405020304" pitchFamily="18" charset="0"/>
              </a:rPr>
              <a:t>Hospital_Management_System</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Patient Table</a:t>
            </a:r>
          </a:p>
          <a:p>
            <a:r>
              <a:rPr lang="en-IN" dirty="0">
                <a:latin typeface="Times New Roman" panose="02020603050405020304" pitchFamily="18" charset="0"/>
                <a:cs typeface="Times New Roman" panose="02020603050405020304" pitchFamily="18" charset="0"/>
              </a:rPr>
              <a:t>CREATE TABLE Patient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 INT PRIMARY KEY,</a:t>
            </a:r>
          </a:p>
          <a:p>
            <a:r>
              <a:rPr lang="en-IN" dirty="0">
                <a:latin typeface="Times New Roman" panose="02020603050405020304" pitchFamily="18" charset="0"/>
                <a:cs typeface="Times New Roman" panose="02020603050405020304" pitchFamily="18" charset="0"/>
              </a:rPr>
              <a:t>    Name VARCHAR(50) NOT NULL,</a:t>
            </a:r>
          </a:p>
          <a:p>
            <a:r>
              <a:rPr lang="en-IN" dirty="0">
                <a:latin typeface="Times New Roman" panose="02020603050405020304" pitchFamily="18" charset="0"/>
                <a:cs typeface="Times New Roman" panose="02020603050405020304" pitchFamily="18" charset="0"/>
              </a:rPr>
              <a:t>    Gender VARCHAR(10),</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Date_of_Birth</a:t>
            </a:r>
            <a:r>
              <a:rPr lang="en-IN" dirty="0">
                <a:latin typeface="Times New Roman" panose="02020603050405020304" pitchFamily="18" charset="0"/>
                <a:cs typeface="Times New Roman" panose="02020603050405020304" pitchFamily="18" charset="0"/>
              </a:rPr>
              <a:t> DATE,</a:t>
            </a:r>
          </a:p>
          <a:p>
            <a:r>
              <a:rPr lang="en-IN" dirty="0">
                <a:latin typeface="Times New Roman" panose="02020603050405020304" pitchFamily="18" charset="0"/>
                <a:cs typeface="Times New Roman" panose="02020603050405020304" pitchFamily="18" charset="0"/>
              </a:rPr>
              <a:t>    Phone VARCHAR(15) UNIQUE,</a:t>
            </a:r>
          </a:p>
          <a:p>
            <a:r>
              <a:rPr lang="en-IN" dirty="0">
                <a:latin typeface="Times New Roman" panose="02020603050405020304" pitchFamily="18" charset="0"/>
                <a:cs typeface="Times New Roman" panose="02020603050405020304" pitchFamily="18" charset="0"/>
              </a:rPr>
              <a:t>    Address VARCHAR(100) NOT NULL</a:t>
            </a:r>
          </a:p>
          <a:p>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7761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BE7D36-CC53-2CF6-6FFD-4A5C9A211D1D}"/>
              </a:ext>
            </a:extLst>
          </p:cNvPr>
          <p:cNvSpPr>
            <a:spLocks noGrp="1"/>
          </p:cNvSpPr>
          <p:nvPr>
            <p:ph idx="1"/>
          </p:nvPr>
        </p:nvSpPr>
        <p:spPr>
          <a:xfrm>
            <a:off x="490888" y="346509"/>
            <a:ext cx="10862912" cy="6429676"/>
          </a:xfrm>
        </p:spPr>
        <p:txBody>
          <a:bodyPr>
            <a:normAutofit fontScale="77500" lnSpcReduction="20000"/>
          </a:bodyPr>
          <a:lstStyle/>
          <a:p>
            <a:endParaRPr lang="en-IN" sz="1900" b="1" dirty="0">
              <a:latin typeface="Times New Roman" panose="02020603050405020304" pitchFamily="18" charset="0"/>
              <a:cs typeface="Times New Roman" panose="02020603050405020304" pitchFamily="18" charset="0"/>
            </a:endParaRPr>
          </a:p>
          <a:p>
            <a:endParaRPr lang="en-IN" sz="1900" b="1" dirty="0">
              <a:latin typeface="Times New Roman" panose="02020603050405020304" pitchFamily="18" charset="0"/>
              <a:cs typeface="Times New Roman" panose="02020603050405020304" pitchFamily="18" charset="0"/>
            </a:endParaRPr>
          </a:p>
          <a:p>
            <a:r>
              <a:rPr lang="en-IN" sz="2100" b="1" dirty="0">
                <a:latin typeface="Times New Roman" panose="02020603050405020304" pitchFamily="18" charset="0"/>
                <a:cs typeface="Times New Roman" panose="02020603050405020304" pitchFamily="18" charset="0"/>
              </a:rPr>
              <a:t>Department Table</a:t>
            </a:r>
          </a:p>
          <a:p>
            <a:r>
              <a:rPr lang="en-IN" sz="2100" dirty="0">
                <a:latin typeface="Times New Roman" panose="02020603050405020304" pitchFamily="18" charset="0"/>
                <a:cs typeface="Times New Roman" panose="02020603050405020304" pitchFamily="18" charset="0"/>
              </a:rPr>
              <a:t>CREATE TABLE Department (</a:t>
            </a:r>
          </a:p>
          <a:p>
            <a:r>
              <a:rPr lang="en-IN" sz="2100" dirty="0">
                <a:latin typeface="Times New Roman" panose="02020603050405020304" pitchFamily="18" charset="0"/>
                <a:cs typeface="Times New Roman" panose="02020603050405020304" pitchFamily="18" charset="0"/>
              </a:rPr>
              <a:t>    </a:t>
            </a:r>
            <a:r>
              <a:rPr lang="en-IN" sz="2100" dirty="0" err="1">
                <a:latin typeface="Times New Roman" panose="02020603050405020304" pitchFamily="18" charset="0"/>
                <a:cs typeface="Times New Roman" panose="02020603050405020304" pitchFamily="18" charset="0"/>
              </a:rPr>
              <a:t>Department_ID</a:t>
            </a:r>
            <a:r>
              <a:rPr lang="en-IN" sz="2100" dirty="0">
                <a:latin typeface="Times New Roman" panose="02020603050405020304" pitchFamily="18" charset="0"/>
                <a:cs typeface="Times New Roman" panose="02020603050405020304" pitchFamily="18" charset="0"/>
              </a:rPr>
              <a:t> INT PRIMARY KEY,</a:t>
            </a:r>
          </a:p>
          <a:p>
            <a:r>
              <a:rPr lang="en-IN" sz="2100" dirty="0">
                <a:latin typeface="Times New Roman" panose="02020603050405020304" pitchFamily="18" charset="0"/>
                <a:cs typeface="Times New Roman" panose="02020603050405020304" pitchFamily="18" charset="0"/>
              </a:rPr>
              <a:t>    </a:t>
            </a:r>
            <a:r>
              <a:rPr lang="en-IN" sz="2100" dirty="0" err="1">
                <a:latin typeface="Times New Roman" panose="02020603050405020304" pitchFamily="18" charset="0"/>
                <a:cs typeface="Times New Roman" panose="02020603050405020304" pitchFamily="18" charset="0"/>
              </a:rPr>
              <a:t>Department_Name</a:t>
            </a:r>
            <a:r>
              <a:rPr lang="en-IN" sz="2100" dirty="0">
                <a:latin typeface="Times New Roman" panose="02020603050405020304" pitchFamily="18" charset="0"/>
                <a:cs typeface="Times New Roman" panose="02020603050405020304" pitchFamily="18" charset="0"/>
              </a:rPr>
              <a:t> VARCHAR(50) NOT NULL UNIQUE,</a:t>
            </a:r>
          </a:p>
          <a:p>
            <a:r>
              <a:rPr lang="en-IN" sz="2100" dirty="0">
                <a:latin typeface="Times New Roman" panose="02020603050405020304" pitchFamily="18" charset="0"/>
                <a:cs typeface="Times New Roman" panose="02020603050405020304" pitchFamily="18" charset="0"/>
              </a:rPr>
              <a:t>    Location VARCHAR(50)</a:t>
            </a:r>
          </a:p>
          <a:p>
            <a:r>
              <a:rPr lang="en-IN" sz="2100" dirty="0">
                <a:latin typeface="Times New Roman" panose="02020603050405020304" pitchFamily="18" charset="0"/>
                <a:cs typeface="Times New Roman" panose="02020603050405020304" pitchFamily="18" charset="0"/>
              </a:rPr>
              <a:t>);</a:t>
            </a:r>
          </a:p>
          <a:p>
            <a:endParaRPr lang="en-IN" sz="1900" b="1" dirty="0">
              <a:latin typeface="Times New Roman" panose="02020603050405020304" pitchFamily="18" charset="0"/>
              <a:cs typeface="Times New Roman" panose="02020603050405020304" pitchFamily="18" charset="0"/>
            </a:endParaRPr>
          </a:p>
          <a:p>
            <a:endParaRPr lang="en-IN" sz="1900" b="1" dirty="0">
              <a:latin typeface="Times New Roman" panose="02020603050405020304" pitchFamily="18" charset="0"/>
              <a:cs typeface="Times New Roman" panose="02020603050405020304" pitchFamily="18" charset="0"/>
            </a:endParaRPr>
          </a:p>
          <a:p>
            <a:endParaRPr lang="en-IN" sz="1900" b="1" dirty="0">
              <a:latin typeface="Times New Roman" panose="02020603050405020304" pitchFamily="18" charset="0"/>
              <a:cs typeface="Times New Roman" panose="02020603050405020304" pitchFamily="18" charset="0"/>
            </a:endParaRPr>
          </a:p>
          <a:p>
            <a:endParaRPr lang="en-IN" sz="1900" b="1" dirty="0">
              <a:latin typeface="Times New Roman" panose="02020603050405020304" pitchFamily="18" charset="0"/>
              <a:cs typeface="Times New Roman" panose="02020603050405020304" pitchFamily="18" charset="0"/>
            </a:endParaRPr>
          </a:p>
          <a:p>
            <a:endParaRPr lang="en-IN" sz="1900" b="1" dirty="0">
              <a:latin typeface="Times New Roman" panose="02020603050405020304" pitchFamily="18" charset="0"/>
              <a:cs typeface="Times New Roman" panose="02020603050405020304" pitchFamily="18" charset="0"/>
            </a:endParaRPr>
          </a:p>
          <a:p>
            <a:endParaRPr lang="en-IN" sz="1900" b="1" dirty="0">
              <a:latin typeface="Times New Roman" panose="02020603050405020304" pitchFamily="18" charset="0"/>
              <a:cs typeface="Times New Roman" panose="02020603050405020304" pitchFamily="18" charset="0"/>
            </a:endParaRPr>
          </a:p>
          <a:p>
            <a:r>
              <a:rPr lang="en-IN" sz="1900" b="1" dirty="0">
                <a:latin typeface="Times New Roman" panose="02020603050405020304" pitchFamily="18" charset="0"/>
                <a:cs typeface="Times New Roman" panose="02020603050405020304" pitchFamily="18" charset="0"/>
              </a:rPr>
              <a:t>Doctor Table</a:t>
            </a:r>
          </a:p>
          <a:p>
            <a:r>
              <a:rPr lang="en-IN" sz="1900" dirty="0">
                <a:latin typeface="Times New Roman" panose="02020603050405020304" pitchFamily="18" charset="0"/>
                <a:cs typeface="Times New Roman" panose="02020603050405020304" pitchFamily="18" charset="0"/>
              </a:rPr>
              <a:t>CREATE TABLE Doctor (</a:t>
            </a:r>
          </a:p>
          <a:p>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Doctor_ID</a:t>
            </a:r>
            <a:r>
              <a:rPr lang="en-IN" sz="1900" dirty="0">
                <a:latin typeface="Times New Roman" panose="02020603050405020304" pitchFamily="18" charset="0"/>
                <a:cs typeface="Times New Roman" panose="02020603050405020304" pitchFamily="18" charset="0"/>
              </a:rPr>
              <a:t> INT PRIMARY KEY,</a:t>
            </a:r>
          </a:p>
          <a:p>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Doctor_Name</a:t>
            </a:r>
            <a:r>
              <a:rPr lang="en-IN" sz="1900" dirty="0">
                <a:latin typeface="Times New Roman" panose="02020603050405020304" pitchFamily="18" charset="0"/>
                <a:cs typeface="Times New Roman" panose="02020603050405020304" pitchFamily="18" charset="0"/>
              </a:rPr>
              <a:t> VARCHAR(50) NOT NULL,</a:t>
            </a:r>
          </a:p>
          <a:p>
            <a:r>
              <a:rPr lang="en-IN" sz="1900" dirty="0">
                <a:latin typeface="Times New Roman" panose="02020603050405020304" pitchFamily="18" charset="0"/>
                <a:cs typeface="Times New Roman" panose="02020603050405020304" pitchFamily="18" charset="0"/>
              </a:rPr>
              <a:t>    Specialization VARCHAR(50) NOT NULL,</a:t>
            </a:r>
          </a:p>
          <a:p>
            <a:r>
              <a:rPr lang="en-IN" sz="1900" dirty="0">
                <a:latin typeface="Times New Roman" panose="02020603050405020304" pitchFamily="18" charset="0"/>
                <a:cs typeface="Times New Roman" panose="02020603050405020304" pitchFamily="18" charset="0"/>
              </a:rPr>
              <a:t>    Phone VARCHAR(15) UNIQUE,</a:t>
            </a:r>
          </a:p>
          <a:p>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Department_ID</a:t>
            </a:r>
            <a:r>
              <a:rPr lang="en-IN" sz="1900" dirty="0">
                <a:latin typeface="Times New Roman" panose="02020603050405020304" pitchFamily="18" charset="0"/>
                <a:cs typeface="Times New Roman" panose="02020603050405020304" pitchFamily="18" charset="0"/>
              </a:rPr>
              <a:t> INT,</a:t>
            </a:r>
          </a:p>
          <a:p>
            <a:r>
              <a:rPr lang="en-IN" sz="1900" dirty="0">
                <a:latin typeface="Times New Roman" panose="02020603050405020304" pitchFamily="18" charset="0"/>
                <a:cs typeface="Times New Roman" panose="02020603050405020304" pitchFamily="18" charset="0"/>
              </a:rPr>
              <a:t>    FOREIGN KEY (</a:t>
            </a:r>
            <a:r>
              <a:rPr lang="en-IN" sz="1900" dirty="0" err="1">
                <a:latin typeface="Times New Roman" panose="02020603050405020304" pitchFamily="18" charset="0"/>
                <a:cs typeface="Times New Roman" panose="02020603050405020304" pitchFamily="18" charset="0"/>
              </a:rPr>
              <a:t>Department_ID</a:t>
            </a:r>
            <a:r>
              <a:rPr lang="en-IN" sz="1900" dirty="0">
                <a:latin typeface="Times New Roman" panose="02020603050405020304" pitchFamily="18" charset="0"/>
                <a:cs typeface="Times New Roman" panose="02020603050405020304" pitchFamily="18" charset="0"/>
              </a:rPr>
              <a:t>)</a:t>
            </a:r>
          </a:p>
          <a:p>
            <a:r>
              <a:rPr lang="en-IN" sz="1900" dirty="0">
                <a:latin typeface="Times New Roman" panose="02020603050405020304" pitchFamily="18" charset="0"/>
                <a:cs typeface="Times New Roman" panose="02020603050405020304" pitchFamily="18" charset="0"/>
              </a:rPr>
              <a:t>        REFERENCES Department(</a:t>
            </a:r>
            <a:r>
              <a:rPr lang="en-IN" sz="1900" dirty="0" err="1">
                <a:latin typeface="Times New Roman" panose="02020603050405020304" pitchFamily="18" charset="0"/>
                <a:cs typeface="Times New Roman" panose="02020603050405020304" pitchFamily="18" charset="0"/>
              </a:rPr>
              <a:t>Department_ID</a:t>
            </a:r>
            <a:r>
              <a:rPr lang="en-IN" sz="1900" dirty="0">
                <a:latin typeface="Times New Roman" panose="02020603050405020304" pitchFamily="18" charset="0"/>
                <a:cs typeface="Times New Roman" panose="02020603050405020304" pitchFamily="18" charset="0"/>
              </a:rPr>
              <a:t>)</a:t>
            </a:r>
          </a:p>
          <a:p>
            <a:r>
              <a:rPr lang="en-IN" sz="1900" dirty="0">
                <a:latin typeface="Times New Roman" panose="02020603050405020304" pitchFamily="18" charset="0"/>
                <a:cs typeface="Times New Roman" panose="02020603050405020304" pitchFamily="18" charset="0"/>
              </a:rPr>
              <a:t>);</a:t>
            </a:r>
          </a:p>
          <a:p>
            <a:endParaRPr lang="en-IN" sz="19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7362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CB1F1D-0473-3759-22BE-973670D5BD45}"/>
              </a:ext>
            </a:extLst>
          </p:cNvPr>
          <p:cNvSpPr txBox="1"/>
          <p:nvPr/>
        </p:nvSpPr>
        <p:spPr>
          <a:xfrm>
            <a:off x="438538" y="3930073"/>
            <a:ext cx="8763777" cy="3016210"/>
          </a:xfrm>
          <a:prstGeom prst="rect">
            <a:avLst/>
          </a:prstGeom>
          <a:noFill/>
        </p:spPr>
        <p:txBody>
          <a:bodyPr wrap="square">
            <a:spAutoFit/>
          </a:bodyPr>
          <a:lstStyle/>
          <a:p>
            <a:r>
              <a:rPr lang="en-IN" sz="1900" b="1" dirty="0">
                <a:latin typeface="Times New Roman" panose="02020603050405020304" pitchFamily="18" charset="0"/>
                <a:cs typeface="Times New Roman" panose="02020603050405020304" pitchFamily="18" charset="0"/>
              </a:rPr>
              <a:t>Admission Table</a:t>
            </a:r>
          </a:p>
          <a:p>
            <a:r>
              <a:rPr lang="en-IN" sz="1900" dirty="0">
                <a:latin typeface="Times New Roman" panose="02020603050405020304" pitchFamily="18" charset="0"/>
                <a:cs typeface="Times New Roman" panose="02020603050405020304" pitchFamily="18" charset="0"/>
              </a:rPr>
              <a:t>CREATE TABLE Admission (</a:t>
            </a:r>
          </a:p>
          <a:p>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Admission_ID</a:t>
            </a:r>
            <a:r>
              <a:rPr lang="en-IN" sz="1900" dirty="0">
                <a:latin typeface="Times New Roman" panose="02020603050405020304" pitchFamily="18" charset="0"/>
                <a:cs typeface="Times New Roman" panose="02020603050405020304" pitchFamily="18" charset="0"/>
              </a:rPr>
              <a:t> INT PRIMARY KEY,</a:t>
            </a:r>
          </a:p>
          <a:p>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Patient_ID</a:t>
            </a:r>
            <a:r>
              <a:rPr lang="en-IN" sz="1900" dirty="0">
                <a:latin typeface="Times New Roman" panose="02020603050405020304" pitchFamily="18" charset="0"/>
                <a:cs typeface="Times New Roman" panose="02020603050405020304" pitchFamily="18" charset="0"/>
              </a:rPr>
              <a:t> INT NOT NULL,</a:t>
            </a:r>
          </a:p>
          <a:p>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Room_No</a:t>
            </a:r>
            <a:r>
              <a:rPr lang="en-IN" sz="1900" dirty="0">
                <a:latin typeface="Times New Roman" panose="02020603050405020304" pitchFamily="18" charset="0"/>
                <a:cs typeface="Times New Roman" panose="02020603050405020304" pitchFamily="18" charset="0"/>
              </a:rPr>
              <a:t> VARCHAR(10) NOT NULL,</a:t>
            </a:r>
          </a:p>
          <a:p>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Admission_Date</a:t>
            </a:r>
            <a:r>
              <a:rPr lang="en-IN" sz="1900" dirty="0">
                <a:latin typeface="Times New Roman" panose="02020603050405020304" pitchFamily="18" charset="0"/>
                <a:cs typeface="Times New Roman" panose="02020603050405020304" pitchFamily="18" charset="0"/>
              </a:rPr>
              <a:t> DATE NOT NULL,</a:t>
            </a:r>
          </a:p>
          <a:p>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Discharge_Date</a:t>
            </a:r>
            <a:r>
              <a:rPr lang="en-IN" sz="1900" dirty="0">
                <a:latin typeface="Times New Roman" panose="02020603050405020304" pitchFamily="18" charset="0"/>
                <a:cs typeface="Times New Roman" panose="02020603050405020304" pitchFamily="18" charset="0"/>
              </a:rPr>
              <a:t> DATE,</a:t>
            </a:r>
          </a:p>
          <a:p>
            <a:r>
              <a:rPr lang="en-IN" sz="1900" dirty="0">
                <a:latin typeface="Times New Roman" panose="02020603050405020304" pitchFamily="18" charset="0"/>
                <a:cs typeface="Times New Roman" panose="02020603050405020304" pitchFamily="18" charset="0"/>
              </a:rPr>
              <a:t>    FOREIGN KEY (</a:t>
            </a:r>
            <a:r>
              <a:rPr lang="en-IN" sz="1900" dirty="0" err="1">
                <a:latin typeface="Times New Roman" panose="02020603050405020304" pitchFamily="18" charset="0"/>
                <a:cs typeface="Times New Roman" panose="02020603050405020304" pitchFamily="18" charset="0"/>
              </a:rPr>
              <a:t>Patient_ID</a:t>
            </a:r>
            <a:r>
              <a:rPr lang="en-IN" sz="1900" dirty="0">
                <a:latin typeface="Times New Roman" panose="02020603050405020304" pitchFamily="18" charset="0"/>
                <a:cs typeface="Times New Roman" panose="02020603050405020304" pitchFamily="18" charset="0"/>
              </a:rPr>
              <a:t>) REFERENCES Patient(</a:t>
            </a:r>
            <a:r>
              <a:rPr lang="en-IN" sz="1900" dirty="0" err="1">
                <a:latin typeface="Times New Roman" panose="02020603050405020304" pitchFamily="18" charset="0"/>
                <a:cs typeface="Times New Roman" panose="02020603050405020304" pitchFamily="18" charset="0"/>
              </a:rPr>
              <a:t>Patient_ID</a:t>
            </a:r>
            <a:r>
              <a:rPr lang="en-IN" sz="1900" dirty="0">
                <a:latin typeface="Times New Roman" panose="02020603050405020304" pitchFamily="18" charset="0"/>
                <a:cs typeface="Times New Roman" panose="02020603050405020304" pitchFamily="18" charset="0"/>
              </a:rPr>
              <a:t>)</a:t>
            </a:r>
          </a:p>
          <a:p>
            <a:r>
              <a:rPr lang="en-IN" sz="1900" dirty="0">
                <a:latin typeface="Times New Roman" panose="02020603050405020304" pitchFamily="18" charset="0"/>
                <a:cs typeface="Times New Roman" panose="02020603050405020304" pitchFamily="18" charset="0"/>
              </a:rPr>
              <a:t>);</a:t>
            </a:r>
          </a:p>
          <a:p>
            <a:endParaRPr lang="en-IN" sz="19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3DCCDF1-48F8-5703-123B-26C7569C43EB}"/>
              </a:ext>
            </a:extLst>
          </p:cNvPr>
          <p:cNvSpPr txBox="1"/>
          <p:nvPr/>
        </p:nvSpPr>
        <p:spPr>
          <a:xfrm>
            <a:off x="249594" y="162032"/>
            <a:ext cx="6097554" cy="3893374"/>
          </a:xfrm>
          <a:prstGeom prst="rect">
            <a:avLst/>
          </a:prstGeom>
          <a:noFill/>
        </p:spPr>
        <p:txBody>
          <a:bodyPr wrap="square">
            <a:spAutoFit/>
          </a:bodyPr>
          <a:lstStyle/>
          <a:p>
            <a:r>
              <a:rPr lang="en-IN" sz="1900" b="1" dirty="0">
                <a:latin typeface="Times New Roman" panose="02020603050405020304" pitchFamily="18" charset="0"/>
                <a:cs typeface="Times New Roman" panose="02020603050405020304" pitchFamily="18" charset="0"/>
              </a:rPr>
              <a:t>Appointment Table</a:t>
            </a:r>
          </a:p>
          <a:p>
            <a:r>
              <a:rPr lang="en-IN" sz="1900" dirty="0">
                <a:latin typeface="Times New Roman" panose="02020603050405020304" pitchFamily="18" charset="0"/>
                <a:cs typeface="Times New Roman" panose="02020603050405020304" pitchFamily="18" charset="0"/>
              </a:rPr>
              <a:t>CREATE TABLE Appointment (</a:t>
            </a:r>
          </a:p>
          <a:p>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Appointment_ID</a:t>
            </a:r>
            <a:r>
              <a:rPr lang="en-IN" sz="1900" dirty="0">
                <a:latin typeface="Times New Roman" panose="02020603050405020304" pitchFamily="18" charset="0"/>
                <a:cs typeface="Times New Roman" panose="02020603050405020304" pitchFamily="18" charset="0"/>
              </a:rPr>
              <a:t> INT PRIMARY KEY,</a:t>
            </a:r>
          </a:p>
          <a:p>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Patient_ID</a:t>
            </a:r>
            <a:r>
              <a:rPr lang="en-IN" sz="1900" dirty="0">
                <a:latin typeface="Times New Roman" panose="02020603050405020304" pitchFamily="18" charset="0"/>
                <a:cs typeface="Times New Roman" panose="02020603050405020304" pitchFamily="18" charset="0"/>
              </a:rPr>
              <a:t> INT NOT NULL,</a:t>
            </a:r>
          </a:p>
          <a:p>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Doctor_ID</a:t>
            </a:r>
            <a:r>
              <a:rPr lang="en-IN" sz="1900" dirty="0">
                <a:latin typeface="Times New Roman" panose="02020603050405020304" pitchFamily="18" charset="0"/>
                <a:cs typeface="Times New Roman" panose="02020603050405020304" pitchFamily="18" charset="0"/>
              </a:rPr>
              <a:t> INT NOT NULL,</a:t>
            </a:r>
          </a:p>
          <a:p>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Appointment_Date</a:t>
            </a:r>
            <a:r>
              <a:rPr lang="en-IN" sz="1900" dirty="0">
                <a:latin typeface="Times New Roman" panose="02020603050405020304" pitchFamily="18" charset="0"/>
                <a:cs typeface="Times New Roman" panose="02020603050405020304" pitchFamily="18" charset="0"/>
              </a:rPr>
              <a:t> DATE NOT NULL,</a:t>
            </a:r>
          </a:p>
          <a:p>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Appointment_Time</a:t>
            </a:r>
            <a:r>
              <a:rPr lang="en-IN" sz="1900" dirty="0">
                <a:latin typeface="Times New Roman" panose="02020603050405020304" pitchFamily="18" charset="0"/>
                <a:cs typeface="Times New Roman" panose="02020603050405020304" pitchFamily="18" charset="0"/>
              </a:rPr>
              <a:t> TIME NOT NULL,</a:t>
            </a:r>
          </a:p>
          <a:p>
            <a:r>
              <a:rPr lang="en-IN" sz="1900" dirty="0">
                <a:latin typeface="Times New Roman" panose="02020603050405020304" pitchFamily="18" charset="0"/>
                <a:cs typeface="Times New Roman" panose="02020603050405020304" pitchFamily="18" charset="0"/>
              </a:rPr>
              <a:t>    Status VARCHAR(20) DEFAULT 'Scheduled',</a:t>
            </a:r>
          </a:p>
          <a:p>
            <a:r>
              <a:rPr lang="en-IN" sz="1900" dirty="0">
                <a:latin typeface="Times New Roman" panose="02020603050405020304" pitchFamily="18" charset="0"/>
                <a:cs typeface="Times New Roman" panose="02020603050405020304" pitchFamily="18" charset="0"/>
              </a:rPr>
              <a:t>    FOREIGN KEY (</a:t>
            </a:r>
            <a:r>
              <a:rPr lang="en-IN" sz="1900" dirty="0" err="1">
                <a:latin typeface="Times New Roman" panose="02020603050405020304" pitchFamily="18" charset="0"/>
                <a:cs typeface="Times New Roman" panose="02020603050405020304" pitchFamily="18" charset="0"/>
              </a:rPr>
              <a:t>Patient_ID</a:t>
            </a:r>
            <a:r>
              <a:rPr lang="en-IN" sz="1900" dirty="0">
                <a:latin typeface="Times New Roman" panose="02020603050405020304" pitchFamily="18" charset="0"/>
                <a:cs typeface="Times New Roman" panose="02020603050405020304" pitchFamily="18" charset="0"/>
              </a:rPr>
              <a:t>) REFERENCES Patient(</a:t>
            </a:r>
            <a:r>
              <a:rPr lang="en-IN" sz="1900" dirty="0" err="1">
                <a:latin typeface="Times New Roman" panose="02020603050405020304" pitchFamily="18" charset="0"/>
                <a:cs typeface="Times New Roman" panose="02020603050405020304" pitchFamily="18" charset="0"/>
              </a:rPr>
              <a:t>Patient_ID</a:t>
            </a:r>
            <a:r>
              <a:rPr lang="en-IN" sz="1900" dirty="0">
                <a:latin typeface="Times New Roman" panose="02020603050405020304" pitchFamily="18" charset="0"/>
                <a:cs typeface="Times New Roman" panose="02020603050405020304" pitchFamily="18" charset="0"/>
              </a:rPr>
              <a:t>),</a:t>
            </a:r>
          </a:p>
          <a:p>
            <a:r>
              <a:rPr lang="en-IN" sz="1900" dirty="0">
                <a:latin typeface="Times New Roman" panose="02020603050405020304" pitchFamily="18" charset="0"/>
                <a:cs typeface="Times New Roman" panose="02020603050405020304" pitchFamily="18" charset="0"/>
              </a:rPr>
              <a:t>    FOREIGN KEY (</a:t>
            </a:r>
            <a:r>
              <a:rPr lang="en-IN" sz="1900" dirty="0" err="1">
                <a:latin typeface="Times New Roman" panose="02020603050405020304" pitchFamily="18" charset="0"/>
                <a:cs typeface="Times New Roman" panose="02020603050405020304" pitchFamily="18" charset="0"/>
              </a:rPr>
              <a:t>Doctor_ID</a:t>
            </a:r>
            <a:r>
              <a:rPr lang="en-IN" sz="1900" dirty="0">
                <a:latin typeface="Times New Roman" panose="02020603050405020304" pitchFamily="18" charset="0"/>
                <a:cs typeface="Times New Roman" panose="02020603050405020304" pitchFamily="18" charset="0"/>
              </a:rPr>
              <a:t>) REFERENCES Doctor(</a:t>
            </a:r>
            <a:r>
              <a:rPr lang="en-IN" sz="1900" dirty="0" err="1">
                <a:latin typeface="Times New Roman" panose="02020603050405020304" pitchFamily="18" charset="0"/>
                <a:cs typeface="Times New Roman" panose="02020603050405020304" pitchFamily="18" charset="0"/>
              </a:rPr>
              <a:t>Doctor_ID</a:t>
            </a:r>
            <a:r>
              <a:rPr lang="en-IN" sz="1900" dirty="0">
                <a:latin typeface="Times New Roman" panose="02020603050405020304" pitchFamily="18" charset="0"/>
                <a:cs typeface="Times New Roman" panose="02020603050405020304" pitchFamily="18" charset="0"/>
              </a:rPr>
              <a:t>)</a:t>
            </a:r>
          </a:p>
          <a:p>
            <a:r>
              <a:rPr lang="en-IN" sz="19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89183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86A772-261B-2E40-9267-51FF0B01903F}"/>
              </a:ext>
            </a:extLst>
          </p:cNvPr>
          <p:cNvSpPr>
            <a:spLocks noGrp="1"/>
          </p:cNvSpPr>
          <p:nvPr>
            <p:ph idx="1"/>
          </p:nvPr>
        </p:nvSpPr>
        <p:spPr>
          <a:xfrm>
            <a:off x="412118" y="838184"/>
            <a:ext cx="10997665" cy="5618698"/>
          </a:xfrm>
        </p:spPr>
        <p:txBody>
          <a:bodyPr>
            <a:normAutofit fontScale="92500" lnSpcReduction="10000"/>
          </a:bodyPr>
          <a:lstStyle/>
          <a:p>
            <a:r>
              <a:rPr lang="en-IN" b="1" dirty="0">
                <a:latin typeface="Times New Roman" panose="02020603050405020304" pitchFamily="18" charset="0"/>
                <a:cs typeface="Times New Roman" panose="02020603050405020304" pitchFamily="18" charset="0"/>
              </a:rPr>
              <a:t>Treatment Table</a:t>
            </a:r>
          </a:p>
          <a:p>
            <a:r>
              <a:rPr lang="en-IN" dirty="0">
                <a:latin typeface="Times New Roman" panose="02020603050405020304" pitchFamily="18" charset="0"/>
                <a:cs typeface="Times New Roman" panose="02020603050405020304" pitchFamily="18" charset="0"/>
              </a:rPr>
              <a:t>CREATE TABLE Treatment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Treatment_ID</a:t>
            </a:r>
            <a:r>
              <a:rPr lang="en-IN" dirty="0">
                <a:latin typeface="Times New Roman" panose="02020603050405020304" pitchFamily="18" charset="0"/>
                <a:cs typeface="Times New Roman" panose="02020603050405020304" pitchFamily="18" charset="0"/>
              </a:rPr>
              <a:t> INT PRIMARY KEY,</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 INT NOT NULL,</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Doctor_ID</a:t>
            </a:r>
            <a:r>
              <a:rPr lang="en-IN" dirty="0">
                <a:latin typeface="Times New Roman" panose="02020603050405020304" pitchFamily="18" charset="0"/>
                <a:cs typeface="Times New Roman" panose="02020603050405020304" pitchFamily="18" charset="0"/>
              </a:rPr>
              <a:t> INT NOT NULL,</a:t>
            </a:r>
          </a:p>
          <a:p>
            <a:r>
              <a:rPr lang="en-IN" dirty="0">
                <a:latin typeface="Times New Roman" panose="02020603050405020304" pitchFamily="18" charset="0"/>
                <a:cs typeface="Times New Roman" panose="02020603050405020304" pitchFamily="18" charset="0"/>
              </a:rPr>
              <a:t>    Diagnosis VARCHAR(100) NOT NULL,</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Treatment_Date</a:t>
            </a:r>
            <a:r>
              <a:rPr lang="en-IN" dirty="0">
                <a:latin typeface="Times New Roman" panose="02020603050405020304" pitchFamily="18" charset="0"/>
                <a:cs typeface="Times New Roman" panose="02020603050405020304" pitchFamily="18" charset="0"/>
              </a:rPr>
              <a:t> DATE NOT NULL,</a:t>
            </a:r>
          </a:p>
          <a:p>
            <a:r>
              <a:rPr lang="en-IN" dirty="0">
                <a:latin typeface="Times New Roman" panose="02020603050405020304" pitchFamily="18" charset="0"/>
                <a:cs typeface="Times New Roman" panose="02020603050405020304" pitchFamily="18" charset="0"/>
              </a:rPr>
              <a:t>    Description VARCHAR(200),</a:t>
            </a:r>
          </a:p>
          <a:p>
            <a:r>
              <a:rPr lang="en-IN" dirty="0">
                <a:latin typeface="Times New Roman" panose="02020603050405020304" pitchFamily="18" charset="0"/>
                <a:cs typeface="Times New Roman" panose="02020603050405020304" pitchFamily="18" charset="0"/>
              </a:rPr>
              <a:t>    FOREIGN KEY (</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 REFERENCES Patient(</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FOREIGN KEY (</a:t>
            </a:r>
            <a:r>
              <a:rPr lang="en-IN" dirty="0" err="1">
                <a:latin typeface="Times New Roman" panose="02020603050405020304" pitchFamily="18" charset="0"/>
                <a:cs typeface="Times New Roman" panose="02020603050405020304" pitchFamily="18" charset="0"/>
              </a:rPr>
              <a:t>Doctor_ID</a:t>
            </a:r>
            <a:r>
              <a:rPr lang="en-IN" dirty="0">
                <a:latin typeface="Times New Roman" panose="02020603050405020304" pitchFamily="18" charset="0"/>
                <a:cs typeface="Times New Roman" panose="02020603050405020304" pitchFamily="18" charset="0"/>
              </a:rPr>
              <a:t>) REFERENCES Doctor(</a:t>
            </a:r>
            <a:r>
              <a:rPr lang="en-IN" dirty="0" err="1">
                <a:latin typeface="Times New Roman" panose="02020603050405020304" pitchFamily="18" charset="0"/>
                <a:cs typeface="Times New Roman" panose="02020603050405020304" pitchFamily="18" charset="0"/>
              </a:rPr>
              <a:t>Doctor_ID</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a:t>
            </a:r>
          </a:p>
          <a:p>
            <a:r>
              <a:rPr lang="en-IN" b="1" dirty="0">
                <a:latin typeface="Times New Roman" panose="02020603050405020304" pitchFamily="18" charset="0"/>
                <a:cs typeface="Times New Roman" panose="02020603050405020304" pitchFamily="18" charset="0"/>
              </a:rPr>
              <a:t>Prescription Table</a:t>
            </a:r>
          </a:p>
          <a:p>
            <a:r>
              <a:rPr lang="en-IN" dirty="0">
                <a:latin typeface="Times New Roman" panose="02020603050405020304" pitchFamily="18" charset="0"/>
                <a:cs typeface="Times New Roman" panose="02020603050405020304" pitchFamily="18" charset="0"/>
              </a:rPr>
              <a:t>CREATE TABLE Prescription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Prescription_ID</a:t>
            </a:r>
            <a:r>
              <a:rPr lang="en-IN" dirty="0">
                <a:latin typeface="Times New Roman" panose="02020603050405020304" pitchFamily="18" charset="0"/>
                <a:cs typeface="Times New Roman" panose="02020603050405020304" pitchFamily="18" charset="0"/>
              </a:rPr>
              <a:t> INT PRIMARY KEY,</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 INT NOT NULL,</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Doctor_ID</a:t>
            </a:r>
            <a:r>
              <a:rPr lang="en-IN" dirty="0">
                <a:latin typeface="Times New Roman" panose="02020603050405020304" pitchFamily="18" charset="0"/>
                <a:cs typeface="Times New Roman" panose="02020603050405020304" pitchFamily="18" charset="0"/>
              </a:rPr>
              <a:t> INT NOT NULL,</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Prescription_Date</a:t>
            </a:r>
            <a:r>
              <a:rPr lang="en-IN" dirty="0">
                <a:latin typeface="Times New Roman" panose="02020603050405020304" pitchFamily="18" charset="0"/>
                <a:cs typeface="Times New Roman" panose="02020603050405020304" pitchFamily="18" charset="0"/>
              </a:rPr>
              <a:t> DATE NOT NULL,</a:t>
            </a:r>
          </a:p>
          <a:p>
            <a:r>
              <a:rPr lang="en-IN" dirty="0">
                <a:latin typeface="Times New Roman" panose="02020603050405020304" pitchFamily="18" charset="0"/>
                <a:cs typeface="Times New Roman" panose="02020603050405020304" pitchFamily="18" charset="0"/>
              </a:rPr>
              <a:t>    FOREIGN KEY (</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 REFERENCES Patient(</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FOREIGN KEY (</a:t>
            </a:r>
            <a:r>
              <a:rPr lang="en-IN" dirty="0" err="1">
                <a:latin typeface="Times New Roman" panose="02020603050405020304" pitchFamily="18" charset="0"/>
                <a:cs typeface="Times New Roman" panose="02020603050405020304" pitchFamily="18" charset="0"/>
              </a:rPr>
              <a:t>Doctor_ID</a:t>
            </a:r>
            <a:r>
              <a:rPr lang="en-IN" dirty="0">
                <a:latin typeface="Times New Roman" panose="02020603050405020304" pitchFamily="18" charset="0"/>
                <a:cs typeface="Times New Roman" panose="02020603050405020304" pitchFamily="18" charset="0"/>
              </a:rPr>
              <a:t>) REFERENCES Doctor(</a:t>
            </a:r>
            <a:r>
              <a:rPr lang="en-IN" dirty="0" err="1">
                <a:latin typeface="Times New Roman" panose="02020603050405020304" pitchFamily="18" charset="0"/>
                <a:cs typeface="Times New Roman" panose="02020603050405020304" pitchFamily="18" charset="0"/>
              </a:rPr>
              <a:t>Doctor_ID</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3959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FCFA44-3B1E-99CB-241B-AAAD6BF2FA5F}"/>
              </a:ext>
            </a:extLst>
          </p:cNvPr>
          <p:cNvSpPr txBox="1"/>
          <p:nvPr/>
        </p:nvSpPr>
        <p:spPr>
          <a:xfrm>
            <a:off x="130628" y="483895"/>
            <a:ext cx="8913067" cy="4770537"/>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Medicine Table</a:t>
            </a:r>
          </a:p>
          <a:p>
            <a:r>
              <a:rPr lang="en-IN" sz="1600" dirty="0">
                <a:latin typeface="Times New Roman" panose="02020603050405020304" pitchFamily="18" charset="0"/>
                <a:cs typeface="Times New Roman" panose="02020603050405020304" pitchFamily="18" charset="0"/>
              </a:rPr>
              <a:t>CREATE TABLE Medicine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Medicine_ID</a:t>
            </a:r>
            <a:r>
              <a:rPr lang="en-IN" sz="1600" dirty="0">
                <a:latin typeface="Times New Roman" panose="02020603050405020304" pitchFamily="18" charset="0"/>
                <a:cs typeface="Times New Roman" panose="02020603050405020304" pitchFamily="18" charset="0"/>
              </a:rPr>
              <a:t> INT PRIMARY KEY,</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Medicine_Name</a:t>
            </a:r>
            <a:r>
              <a:rPr lang="en-IN" sz="1600" dirty="0">
                <a:latin typeface="Times New Roman" panose="02020603050405020304" pitchFamily="18" charset="0"/>
                <a:cs typeface="Times New Roman" panose="02020603050405020304" pitchFamily="18" charset="0"/>
              </a:rPr>
              <a:t> VARCHAR(100) NOT NULL UNIQUE,</a:t>
            </a:r>
          </a:p>
          <a:p>
            <a:r>
              <a:rPr lang="en-IN" sz="1600" dirty="0">
                <a:latin typeface="Times New Roman" panose="02020603050405020304" pitchFamily="18" charset="0"/>
                <a:cs typeface="Times New Roman" panose="02020603050405020304" pitchFamily="18" charset="0"/>
              </a:rPr>
              <a:t>    Price DECIMAL(10,2) CHECK (Price &gt; 0),</a:t>
            </a:r>
          </a:p>
          <a:p>
            <a:r>
              <a:rPr lang="en-IN" sz="1600" dirty="0">
                <a:latin typeface="Times New Roman" panose="02020603050405020304" pitchFamily="18" charset="0"/>
                <a:cs typeface="Times New Roman" panose="02020603050405020304" pitchFamily="18" charset="0"/>
              </a:rPr>
              <a:t>    Stock INT DEFAULT 0 CHECK (Stock &gt;= 0)</a:t>
            </a:r>
          </a:p>
          <a:p>
            <a:r>
              <a:rPr lang="en-IN" sz="1600" dirty="0">
                <a:latin typeface="Times New Roman" panose="02020603050405020304" pitchFamily="18" charset="0"/>
                <a:cs typeface="Times New Roman" panose="02020603050405020304" pitchFamily="18" charset="0"/>
              </a:rPr>
              <a:t>);</a:t>
            </a:r>
          </a:p>
          <a:p>
            <a:r>
              <a:rPr lang="en-IN" sz="1600" b="1" dirty="0" err="1">
                <a:latin typeface="Times New Roman" panose="02020603050405020304" pitchFamily="18" charset="0"/>
                <a:cs typeface="Times New Roman" panose="02020603050405020304" pitchFamily="18" charset="0"/>
              </a:rPr>
              <a:t>Prescription_Item</a:t>
            </a:r>
            <a:r>
              <a:rPr lang="en-IN" sz="1600" b="1" dirty="0">
                <a:latin typeface="Times New Roman" panose="02020603050405020304" pitchFamily="18" charset="0"/>
                <a:cs typeface="Times New Roman" panose="02020603050405020304" pitchFamily="18" charset="0"/>
              </a:rPr>
              <a:t> Table</a:t>
            </a:r>
          </a:p>
          <a:p>
            <a:r>
              <a:rPr lang="en-IN" sz="1600" dirty="0">
                <a:latin typeface="Times New Roman" panose="02020603050405020304" pitchFamily="18" charset="0"/>
                <a:cs typeface="Times New Roman" panose="02020603050405020304" pitchFamily="18" charset="0"/>
              </a:rPr>
              <a:t>CREATE TABLE </a:t>
            </a:r>
            <a:r>
              <a:rPr lang="en-IN" sz="1600" dirty="0" err="1">
                <a:latin typeface="Times New Roman" panose="02020603050405020304" pitchFamily="18" charset="0"/>
                <a:cs typeface="Times New Roman" panose="02020603050405020304" pitchFamily="18" charset="0"/>
              </a:rPr>
              <a:t>Prescription_Item</a:t>
            </a:r>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Prescription_Item_ID</a:t>
            </a:r>
            <a:r>
              <a:rPr lang="en-IN" sz="1600" dirty="0">
                <a:latin typeface="Times New Roman" panose="02020603050405020304" pitchFamily="18" charset="0"/>
                <a:cs typeface="Times New Roman" panose="02020603050405020304" pitchFamily="18" charset="0"/>
              </a:rPr>
              <a:t> INT PRIMARY KEY,</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Prescription_ID</a:t>
            </a:r>
            <a:r>
              <a:rPr lang="en-IN" sz="1600" dirty="0">
                <a:latin typeface="Times New Roman" panose="02020603050405020304" pitchFamily="18" charset="0"/>
                <a:cs typeface="Times New Roman" panose="02020603050405020304" pitchFamily="18" charset="0"/>
              </a:rPr>
              <a:t> INT NOT NULL,</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Medicine_ID</a:t>
            </a:r>
            <a:r>
              <a:rPr lang="en-IN" sz="1600" dirty="0">
                <a:latin typeface="Times New Roman" panose="02020603050405020304" pitchFamily="18" charset="0"/>
                <a:cs typeface="Times New Roman" panose="02020603050405020304" pitchFamily="18" charset="0"/>
              </a:rPr>
              <a:t> INT NOT NULL,</a:t>
            </a:r>
          </a:p>
          <a:p>
            <a:r>
              <a:rPr lang="en-IN" sz="1600" dirty="0">
                <a:latin typeface="Times New Roman" panose="02020603050405020304" pitchFamily="18" charset="0"/>
                <a:cs typeface="Times New Roman" panose="02020603050405020304" pitchFamily="18" charset="0"/>
              </a:rPr>
              <a:t>    Quantity INT CHECK (Quantity &gt; 0),</a:t>
            </a:r>
          </a:p>
          <a:p>
            <a:r>
              <a:rPr lang="en-IN" sz="1600" dirty="0">
                <a:latin typeface="Times New Roman" panose="02020603050405020304" pitchFamily="18" charset="0"/>
                <a:cs typeface="Times New Roman" panose="02020603050405020304" pitchFamily="18" charset="0"/>
              </a:rPr>
              <a:t>    Dosage VARCHAR(50),</a:t>
            </a:r>
          </a:p>
          <a:p>
            <a:r>
              <a:rPr lang="en-IN" sz="1600" dirty="0">
                <a:latin typeface="Times New Roman" panose="02020603050405020304" pitchFamily="18" charset="0"/>
                <a:cs typeface="Times New Roman" panose="02020603050405020304" pitchFamily="18" charset="0"/>
              </a:rPr>
              <a:t>    FOREIGN KEY (</a:t>
            </a:r>
            <a:r>
              <a:rPr lang="en-IN" sz="1600" dirty="0" err="1">
                <a:latin typeface="Times New Roman" panose="02020603050405020304" pitchFamily="18" charset="0"/>
                <a:cs typeface="Times New Roman" panose="02020603050405020304" pitchFamily="18" charset="0"/>
              </a:rPr>
              <a:t>Prescription_ID</a:t>
            </a:r>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        REFERENCES Prescription(</a:t>
            </a:r>
            <a:r>
              <a:rPr lang="en-IN" sz="1600" dirty="0" err="1">
                <a:latin typeface="Times New Roman" panose="02020603050405020304" pitchFamily="18" charset="0"/>
                <a:cs typeface="Times New Roman" panose="02020603050405020304" pitchFamily="18" charset="0"/>
              </a:rPr>
              <a:t>Prescription_ID</a:t>
            </a:r>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    FOREIGN KEY (</a:t>
            </a:r>
            <a:r>
              <a:rPr lang="en-IN" sz="1600" dirty="0" err="1">
                <a:latin typeface="Times New Roman" panose="02020603050405020304" pitchFamily="18" charset="0"/>
                <a:cs typeface="Times New Roman" panose="02020603050405020304" pitchFamily="18" charset="0"/>
              </a:rPr>
              <a:t>Medicine_ID</a:t>
            </a:r>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        REFERENCES Medicine(</a:t>
            </a:r>
            <a:r>
              <a:rPr lang="en-IN" sz="1600" dirty="0" err="1">
                <a:latin typeface="Times New Roman" panose="02020603050405020304" pitchFamily="18" charset="0"/>
                <a:cs typeface="Times New Roman" panose="02020603050405020304" pitchFamily="18" charset="0"/>
              </a:rPr>
              <a:t>Medicine_ID</a:t>
            </a:r>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2410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C20B297-2CB5-C2FA-F512-4A87A2BE3210}"/>
              </a:ext>
            </a:extLst>
          </p:cNvPr>
          <p:cNvSpPr>
            <a:spLocks noGrp="1" noChangeArrowheads="1"/>
          </p:cNvSpPr>
          <p:nvPr>
            <p:ph idx="1"/>
          </p:nvPr>
        </p:nvSpPr>
        <p:spPr bwMode="auto">
          <a:xfrm>
            <a:off x="375385" y="1317916"/>
            <a:ext cx="11600239" cy="2890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a:latin typeface="Times New Roman" panose="02020603050405020304" pitchFamily="18" charset="0"/>
                <a:cs typeface="Times New Roman" panose="02020603050405020304" pitchFamily="18" charset="0"/>
              </a:rPr>
              <a:t>Constraints Used</a:t>
            </a:r>
          </a:p>
          <a:p>
            <a:pPr lvl="0"/>
            <a:r>
              <a:rPr lang="en-IN" sz="1800" b="1" dirty="0">
                <a:latin typeface="Times New Roman" panose="02020603050405020304" pitchFamily="18" charset="0"/>
                <a:cs typeface="Times New Roman" panose="02020603050405020304" pitchFamily="18" charset="0"/>
              </a:rPr>
              <a:t>PRIMARY KEY</a:t>
            </a:r>
            <a:r>
              <a:rPr lang="en-IN" sz="1800" dirty="0">
                <a:latin typeface="Times New Roman" panose="02020603050405020304" pitchFamily="18" charset="0"/>
                <a:cs typeface="Times New Roman" panose="02020603050405020304" pitchFamily="18" charset="0"/>
              </a:rPr>
              <a:t> → Uniquely identifies every record.</a:t>
            </a:r>
          </a:p>
          <a:p>
            <a:pPr lvl="0"/>
            <a:r>
              <a:rPr lang="en-IN" sz="1800" b="1" dirty="0">
                <a:latin typeface="Times New Roman" panose="02020603050405020304" pitchFamily="18" charset="0"/>
                <a:cs typeface="Times New Roman" panose="02020603050405020304" pitchFamily="18" charset="0"/>
              </a:rPr>
              <a:t>FOREIGN KEY</a:t>
            </a:r>
            <a:r>
              <a:rPr lang="en-IN" sz="1800" dirty="0">
                <a:latin typeface="Times New Roman" panose="02020603050405020304" pitchFamily="18" charset="0"/>
                <a:cs typeface="Times New Roman" panose="02020603050405020304" pitchFamily="18" charset="0"/>
              </a:rPr>
              <a:t> → Connects related tables.</a:t>
            </a:r>
          </a:p>
          <a:p>
            <a:pPr lvl="0"/>
            <a:r>
              <a:rPr lang="en-IN" sz="1800" b="1" dirty="0">
                <a:latin typeface="Times New Roman" panose="02020603050405020304" pitchFamily="18" charset="0"/>
                <a:cs typeface="Times New Roman" panose="02020603050405020304" pitchFamily="18" charset="0"/>
              </a:rPr>
              <a:t>NOT NULL</a:t>
            </a:r>
            <a:r>
              <a:rPr lang="en-IN" sz="1800" dirty="0">
                <a:latin typeface="Times New Roman" panose="02020603050405020304" pitchFamily="18" charset="0"/>
                <a:cs typeface="Times New Roman" panose="02020603050405020304" pitchFamily="18" charset="0"/>
              </a:rPr>
              <a:t> → Prevents important fields from being empty.</a:t>
            </a:r>
          </a:p>
          <a:p>
            <a:pPr lvl="0"/>
            <a:r>
              <a:rPr lang="en-IN" sz="1800" b="1" dirty="0">
                <a:latin typeface="Times New Roman" panose="02020603050405020304" pitchFamily="18" charset="0"/>
                <a:cs typeface="Times New Roman" panose="02020603050405020304" pitchFamily="18" charset="0"/>
              </a:rPr>
              <a:t>UNIQUE</a:t>
            </a:r>
            <a:r>
              <a:rPr lang="en-IN" sz="1800" dirty="0">
                <a:latin typeface="Times New Roman" panose="02020603050405020304" pitchFamily="18" charset="0"/>
                <a:cs typeface="Times New Roman" panose="02020603050405020304" pitchFamily="18" charset="0"/>
              </a:rPr>
              <a:t> → Prevents duplicate phone numbers, department names, and medicine names.</a:t>
            </a:r>
          </a:p>
          <a:p>
            <a:pPr lvl="0"/>
            <a:r>
              <a:rPr lang="en-IN" sz="1800" b="1" dirty="0">
                <a:latin typeface="Times New Roman" panose="02020603050405020304" pitchFamily="18" charset="0"/>
                <a:cs typeface="Times New Roman" panose="02020603050405020304" pitchFamily="18" charset="0"/>
              </a:rPr>
              <a:t>CHECK</a:t>
            </a:r>
            <a:r>
              <a:rPr lang="en-IN" sz="1800" dirty="0">
                <a:latin typeface="Times New Roman" panose="02020603050405020304" pitchFamily="18" charset="0"/>
                <a:cs typeface="Times New Roman" panose="02020603050405020304" pitchFamily="18" charset="0"/>
              </a:rPr>
              <a:t> → Ensures valid prices, quantities, and stock values.</a:t>
            </a:r>
          </a:p>
          <a:p>
            <a:pPr lvl="0"/>
            <a:r>
              <a:rPr lang="en-IN" sz="1800" b="1" dirty="0">
                <a:latin typeface="Times New Roman" panose="02020603050405020304" pitchFamily="18" charset="0"/>
                <a:cs typeface="Times New Roman" panose="02020603050405020304" pitchFamily="18" charset="0"/>
              </a:rPr>
              <a:t>DEFAULT</a:t>
            </a:r>
            <a:r>
              <a:rPr lang="en-IN" sz="1800" dirty="0">
                <a:latin typeface="Times New Roman" panose="02020603050405020304" pitchFamily="18" charset="0"/>
                <a:cs typeface="Times New Roman" panose="02020603050405020304" pitchFamily="18" charset="0"/>
              </a:rPr>
              <a:t> → Provides automatic values such as appointment status and payment status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1400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CB1B-1221-B55E-AE9C-D085021A0DC5}"/>
              </a:ext>
            </a:extLst>
          </p:cNvPr>
          <p:cNvSpPr>
            <a:spLocks noGrp="1"/>
          </p:cNvSpPr>
          <p:nvPr>
            <p:ph type="title"/>
          </p:nvPr>
        </p:nvSpPr>
        <p:spPr>
          <a:xfrm>
            <a:off x="838200" y="85994"/>
            <a:ext cx="10515600" cy="828406"/>
          </a:xfrm>
        </p:spPr>
        <p:txBody>
          <a:bodyPr/>
          <a:lstStyle/>
          <a:p>
            <a:pPr algn="ctr"/>
            <a:r>
              <a:rPr lang="en-IN" dirty="0"/>
              <a:t>SAMPLE DATA INSERTION:</a:t>
            </a:r>
          </a:p>
        </p:txBody>
      </p:sp>
      <p:sp>
        <p:nvSpPr>
          <p:cNvPr id="5" name="Content Placeholder 4">
            <a:extLst>
              <a:ext uri="{FF2B5EF4-FFF2-40B4-BE49-F238E27FC236}">
                <a16:creationId xmlns:a16="http://schemas.microsoft.com/office/drawing/2014/main" id="{A76E11C4-A913-0C8D-F10A-3CD922AB578A}"/>
              </a:ext>
            </a:extLst>
          </p:cNvPr>
          <p:cNvSpPr>
            <a:spLocks noGrp="1"/>
          </p:cNvSpPr>
          <p:nvPr>
            <p:ph idx="1"/>
          </p:nvPr>
        </p:nvSpPr>
        <p:spPr>
          <a:xfrm>
            <a:off x="760396" y="914400"/>
            <a:ext cx="10593404" cy="6227545"/>
          </a:xfrm>
        </p:spPr>
        <p:txBody>
          <a:bodyPr/>
          <a:lstStyle/>
          <a:p>
            <a:r>
              <a:rPr lang="en-IN" b="1" dirty="0">
                <a:latin typeface="Times New Roman" panose="02020603050405020304" pitchFamily="18" charset="0"/>
                <a:cs typeface="Times New Roman" panose="02020603050405020304" pitchFamily="18" charset="0"/>
              </a:rPr>
              <a:t>1. Patient</a:t>
            </a:r>
          </a:p>
          <a:p>
            <a:r>
              <a:rPr lang="en-IN" dirty="0">
                <a:latin typeface="Times New Roman" panose="02020603050405020304" pitchFamily="18" charset="0"/>
                <a:cs typeface="Times New Roman" panose="02020603050405020304" pitchFamily="18" charset="0"/>
              </a:rPr>
              <a:t>INSERT INTO Patient</a:t>
            </a:r>
          </a:p>
          <a:p>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 Name, Gender, </a:t>
            </a:r>
            <a:r>
              <a:rPr lang="en-IN" dirty="0" err="1">
                <a:latin typeface="Times New Roman" panose="02020603050405020304" pitchFamily="18" charset="0"/>
                <a:cs typeface="Times New Roman" panose="02020603050405020304" pitchFamily="18" charset="0"/>
              </a:rPr>
              <a:t>Date_of_Birth</a:t>
            </a:r>
            <a:r>
              <a:rPr lang="en-IN" dirty="0">
                <a:latin typeface="Times New Roman" panose="02020603050405020304" pitchFamily="18" charset="0"/>
                <a:cs typeface="Times New Roman" panose="02020603050405020304" pitchFamily="18" charset="0"/>
              </a:rPr>
              <a:t>, Phone, Address)</a:t>
            </a:r>
          </a:p>
          <a:p>
            <a:r>
              <a:rPr lang="en-IN" dirty="0">
                <a:latin typeface="Times New Roman" panose="02020603050405020304" pitchFamily="18" charset="0"/>
                <a:cs typeface="Times New Roman" panose="02020603050405020304" pitchFamily="18" charset="0"/>
              </a:rPr>
              <a:t>VALUES</a:t>
            </a:r>
          </a:p>
          <a:p>
            <a:r>
              <a:rPr lang="en-IN" dirty="0">
                <a:latin typeface="Times New Roman" panose="02020603050405020304" pitchFamily="18" charset="0"/>
                <a:cs typeface="Times New Roman" panose="02020603050405020304" pitchFamily="18" charset="0"/>
              </a:rPr>
              <a:t>(1, 'Akshaya', 'Female', '2003-05-12', '9876543210', 'Hyderabad'),</a:t>
            </a:r>
          </a:p>
          <a:p>
            <a:r>
              <a:rPr lang="en-IN" dirty="0">
                <a:latin typeface="Times New Roman" panose="02020603050405020304" pitchFamily="18" charset="0"/>
                <a:cs typeface="Times New Roman" panose="02020603050405020304" pitchFamily="18" charset="0"/>
              </a:rPr>
              <a:t>(2, 'Rahul', 'Male', '2001-08-20', '9876543211', 'Vijayawada'),</a:t>
            </a:r>
          </a:p>
          <a:p>
            <a:r>
              <a:rPr lang="en-IN" dirty="0">
                <a:latin typeface="Times New Roman" panose="02020603050405020304" pitchFamily="18" charset="0"/>
                <a:cs typeface="Times New Roman" panose="02020603050405020304" pitchFamily="18" charset="0"/>
              </a:rPr>
              <a:t>(3, 'Priya', 'Female', '1999-11-15', '9876543212', 'Chennai'),</a:t>
            </a:r>
          </a:p>
          <a:p>
            <a:r>
              <a:rPr lang="en-IN" dirty="0">
                <a:latin typeface="Times New Roman" panose="02020603050405020304" pitchFamily="18" charset="0"/>
                <a:cs typeface="Times New Roman" panose="02020603050405020304" pitchFamily="18" charset="0"/>
              </a:rPr>
              <a:t>(4, 'Kiran', 'Male', '2000-02-10', '9876543213', 'Bangalore');</a:t>
            </a:r>
          </a:p>
          <a:p>
            <a:r>
              <a:rPr lang="en-IN" b="1" dirty="0">
                <a:latin typeface="Times New Roman" panose="02020603050405020304" pitchFamily="18" charset="0"/>
                <a:cs typeface="Times New Roman" panose="02020603050405020304" pitchFamily="18" charset="0"/>
              </a:rPr>
              <a:t>2. Department</a:t>
            </a:r>
          </a:p>
          <a:p>
            <a:r>
              <a:rPr lang="en-IN" dirty="0">
                <a:latin typeface="Times New Roman" panose="02020603050405020304" pitchFamily="18" charset="0"/>
                <a:cs typeface="Times New Roman" panose="02020603050405020304" pitchFamily="18" charset="0"/>
              </a:rPr>
              <a:t>INSERT INTO Department</a:t>
            </a:r>
          </a:p>
          <a:p>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Department_ID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Department_Name</a:t>
            </a:r>
            <a:r>
              <a:rPr lang="en-IN" dirty="0">
                <a:latin typeface="Times New Roman" panose="02020603050405020304" pitchFamily="18" charset="0"/>
                <a:cs typeface="Times New Roman" panose="02020603050405020304" pitchFamily="18" charset="0"/>
              </a:rPr>
              <a:t>, Location)</a:t>
            </a:r>
          </a:p>
          <a:p>
            <a:r>
              <a:rPr lang="en-IN" dirty="0">
                <a:latin typeface="Times New Roman" panose="02020603050405020304" pitchFamily="18" charset="0"/>
                <a:cs typeface="Times New Roman" panose="02020603050405020304" pitchFamily="18" charset="0"/>
              </a:rPr>
              <a:t>VALUES</a:t>
            </a:r>
          </a:p>
          <a:p>
            <a:r>
              <a:rPr lang="en-IN" dirty="0">
                <a:latin typeface="Times New Roman" panose="02020603050405020304" pitchFamily="18" charset="0"/>
                <a:cs typeface="Times New Roman" panose="02020603050405020304" pitchFamily="18" charset="0"/>
              </a:rPr>
              <a:t>(1, 'Cardiology', 'Block A'),</a:t>
            </a:r>
          </a:p>
          <a:p>
            <a:r>
              <a:rPr lang="en-IN" dirty="0">
                <a:latin typeface="Times New Roman" panose="02020603050405020304" pitchFamily="18" charset="0"/>
                <a:cs typeface="Times New Roman" panose="02020603050405020304" pitchFamily="18" charset="0"/>
              </a:rPr>
              <a:t>(2, 'Neurology', 'Block B'),</a:t>
            </a:r>
          </a:p>
          <a:p>
            <a:r>
              <a:rPr lang="en-IN" dirty="0">
                <a:latin typeface="Times New Roman" panose="02020603050405020304" pitchFamily="18" charset="0"/>
                <a:cs typeface="Times New Roman" panose="02020603050405020304" pitchFamily="18" charset="0"/>
              </a:rPr>
              <a:t>(3, 'General Medicine', 'Block C'),</a:t>
            </a:r>
          </a:p>
          <a:p>
            <a:r>
              <a:rPr lang="en-IN" dirty="0">
                <a:latin typeface="Times New Roman" panose="02020603050405020304" pitchFamily="18" charset="0"/>
                <a:cs typeface="Times New Roman" panose="02020603050405020304" pitchFamily="18" charset="0"/>
              </a:rPr>
              <a:t>(4, '</a:t>
            </a:r>
            <a:r>
              <a:rPr lang="en-IN" dirty="0" err="1">
                <a:latin typeface="Times New Roman" panose="02020603050405020304" pitchFamily="18" charset="0"/>
                <a:cs typeface="Times New Roman" panose="02020603050405020304" pitchFamily="18" charset="0"/>
              </a:rPr>
              <a:t>Orthopedics</a:t>
            </a:r>
            <a:r>
              <a:rPr lang="en-IN" dirty="0">
                <a:latin typeface="Times New Roman" panose="02020603050405020304" pitchFamily="18" charset="0"/>
                <a:cs typeface="Times New Roman" panose="02020603050405020304" pitchFamily="18" charset="0"/>
              </a:rPr>
              <a:t>', 'Block D');</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7509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498BBA-A857-1F20-E128-35D79D3DE17D}"/>
              </a:ext>
            </a:extLst>
          </p:cNvPr>
          <p:cNvSpPr>
            <a:spLocks noGrp="1"/>
          </p:cNvSpPr>
          <p:nvPr>
            <p:ph idx="1"/>
          </p:nvPr>
        </p:nvSpPr>
        <p:spPr>
          <a:xfrm>
            <a:off x="656581" y="621812"/>
            <a:ext cx="10631905" cy="5368441"/>
          </a:xfrm>
        </p:spPr>
        <p:txBody>
          <a:bodyPr>
            <a:normAutofit lnSpcReduction="10000"/>
          </a:bodyPr>
          <a:lstStyle/>
          <a:p>
            <a:r>
              <a:rPr lang="en-IN" b="1" dirty="0">
                <a:latin typeface="Times New Roman" panose="02020603050405020304" pitchFamily="18" charset="0"/>
                <a:cs typeface="Times New Roman" panose="02020603050405020304" pitchFamily="18" charset="0"/>
              </a:rPr>
              <a:t>3. Doctor</a:t>
            </a:r>
          </a:p>
          <a:p>
            <a:r>
              <a:rPr lang="en-IN" dirty="0">
                <a:latin typeface="Times New Roman" panose="02020603050405020304" pitchFamily="18" charset="0"/>
                <a:cs typeface="Times New Roman" panose="02020603050405020304" pitchFamily="18" charset="0"/>
              </a:rPr>
              <a:t>INSERT INTO Doctor</a:t>
            </a:r>
          </a:p>
          <a:p>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Doctor_ID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Doctor_Name</a:t>
            </a:r>
            <a:r>
              <a:rPr lang="en-IN" dirty="0">
                <a:latin typeface="Times New Roman" panose="02020603050405020304" pitchFamily="18" charset="0"/>
                <a:cs typeface="Times New Roman" panose="02020603050405020304" pitchFamily="18" charset="0"/>
              </a:rPr>
              <a:t>, Specialization, Phone, </a:t>
            </a:r>
            <a:r>
              <a:rPr lang="en-IN" dirty="0" err="1">
                <a:latin typeface="Times New Roman" panose="02020603050405020304" pitchFamily="18" charset="0"/>
                <a:cs typeface="Times New Roman" panose="02020603050405020304" pitchFamily="18" charset="0"/>
              </a:rPr>
              <a:t>Department_ID</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VALUES</a:t>
            </a:r>
          </a:p>
          <a:p>
            <a:r>
              <a:rPr lang="en-IN" dirty="0">
                <a:latin typeface="Times New Roman" panose="02020603050405020304" pitchFamily="18" charset="0"/>
                <a:cs typeface="Times New Roman" panose="02020603050405020304" pitchFamily="18" charset="0"/>
              </a:rPr>
              <a:t>(101, 'Dr. Ramesh', 'Cardiologist', '9000000001', 1),</a:t>
            </a:r>
          </a:p>
          <a:p>
            <a:r>
              <a:rPr lang="en-IN" dirty="0">
                <a:latin typeface="Times New Roman" panose="02020603050405020304" pitchFamily="18" charset="0"/>
                <a:cs typeface="Times New Roman" panose="02020603050405020304" pitchFamily="18" charset="0"/>
              </a:rPr>
              <a:t>(102, 'Dr. Sneha', 'Neurologist', '9000000002', 2),</a:t>
            </a:r>
          </a:p>
          <a:p>
            <a:r>
              <a:rPr lang="en-IN" dirty="0">
                <a:latin typeface="Times New Roman" panose="02020603050405020304" pitchFamily="18" charset="0"/>
                <a:cs typeface="Times New Roman" panose="02020603050405020304" pitchFamily="18" charset="0"/>
              </a:rPr>
              <a:t>(103, 'Dr. Arun', 'General Physician', '9000000003', 3),</a:t>
            </a:r>
          </a:p>
          <a:p>
            <a:r>
              <a:rPr lang="en-IN" dirty="0">
                <a:latin typeface="Times New Roman" panose="02020603050405020304" pitchFamily="18" charset="0"/>
                <a:cs typeface="Times New Roman" panose="02020603050405020304" pitchFamily="18" charset="0"/>
              </a:rPr>
              <a:t>(104, 'Dr. Meena', '</a:t>
            </a:r>
            <a:r>
              <a:rPr lang="en-IN" dirty="0" err="1">
                <a:latin typeface="Times New Roman" panose="02020603050405020304" pitchFamily="18" charset="0"/>
                <a:cs typeface="Times New Roman" panose="02020603050405020304" pitchFamily="18" charset="0"/>
              </a:rPr>
              <a:t>Orthopedic</a:t>
            </a:r>
            <a:r>
              <a:rPr lang="en-IN" dirty="0">
                <a:latin typeface="Times New Roman" panose="02020603050405020304" pitchFamily="18" charset="0"/>
                <a:cs typeface="Times New Roman" panose="02020603050405020304" pitchFamily="18" charset="0"/>
              </a:rPr>
              <a:t> Specialist', '9000000004', 4);</a:t>
            </a:r>
          </a:p>
          <a:p>
            <a:r>
              <a:rPr lang="en-IN" b="1" dirty="0">
                <a:latin typeface="Times New Roman" panose="02020603050405020304" pitchFamily="18" charset="0"/>
                <a:cs typeface="Times New Roman" panose="02020603050405020304" pitchFamily="18" charset="0"/>
              </a:rPr>
              <a:t>4. Appointment</a:t>
            </a:r>
          </a:p>
          <a:p>
            <a:r>
              <a:rPr lang="en-IN" dirty="0">
                <a:latin typeface="Times New Roman" panose="02020603050405020304" pitchFamily="18" charset="0"/>
                <a:cs typeface="Times New Roman" panose="02020603050405020304" pitchFamily="18" charset="0"/>
              </a:rPr>
              <a:t>INSERT INTO Appointment</a:t>
            </a:r>
          </a:p>
          <a:p>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Appointment_ID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Doctor_ID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Appointment_Date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Appointment_Time</a:t>
            </a:r>
            <a:r>
              <a:rPr lang="en-IN" dirty="0">
                <a:latin typeface="Times New Roman" panose="02020603050405020304" pitchFamily="18" charset="0"/>
                <a:cs typeface="Times New Roman" panose="02020603050405020304" pitchFamily="18" charset="0"/>
              </a:rPr>
              <a:t>, Status)</a:t>
            </a:r>
          </a:p>
          <a:p>
            <a:r>
              <a:rPr lang="en-IN" dirty="0">
                <a:latin typeface="Times New Roman" panose="02020603050405020304" pitchFamily="18" charset="0"/>
                <a:cs typeface="Times New Roman" panose="02020603050405020304" pitchFamily="18" charset="0"/>
              </a:rPr>
              <a:t>VALUES</a:t>
            </a:r>
          </a:p>
          <a:p>
            <a:r>
              <a:rPr lang="en-IN" dirty="0">
                <a:latin typeface="Times New Roman" panose="02020603050405020304" pitchFamily="18" charset="0"/>
                <a:cs typeface="Times New Roman" panose="02020603050405020304" pitchFamily="18" charset="0"/>
              </a:rPr>
              <a:t>(1001, 1, 101, '2026-09-20', '10:00:00', 'Scheduled'),</a:t>
            </a:r>
          </a:p>
          <a:p>
            <a:r>
              <a:rPr lang="en-IN" dirty="0">
                <a:latin typeface="Times New Roman" panose="02020603050405020304" pitchFamily="18" charset="0"/>
                <a:cs typeface="Times New Roman" panose="02020603050405020304" pitchFamily="18" charset="0"/>
              </a:rPr>
              <a:t>(1002, 2, 102, '2026-09-20', '11:00:00', 'Scheduled'),</a:t>
            </a:r>
          </a:p>
          <a:p>
            <a:r>
              <a:rPr lang="en-IN" dirty="0">
                <a:latin typeface="Times New Roman" panose="02020603050405020304" pitchFamily="18" charset="0"/>
                <a:cs typeface="Times New Roman" panose="02020603050405020304" pitchFamily="18" charset="0"/>
              </a:rPr>
              <a:t>(1003, 3, 103, '2026-09-21', '09:30:00', 'Completed'),</a:t>
            </a:r>
          </a:p>
          <a:p>
            <a:r>
              <a:rPr lang="en-IN" dirty="0">
                <a:latin typeface="Times New Roman" panose="02020603050405020304" pitchFamily="18" charset="0"/>
                <a:cs typeface="Times New Roman" panose="02020603050405020304" pitchFamily="18" charset="0"/>
              </a:rPr>
              <a:t>(1004, 4, 104, '2026-09-21', '12:00:00', 'Scheduled');</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4427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0468CC-25F0-BACE-7D20-283B68BD4256}"/>
              </a:ext>
            </a:extLst>
          </p:cNvPr>
          <p:cNvSpPr>
            <a:spLocks noGrp="1"/>
          </p:cNvSpPr>
          <p:nvPr>
            <p:ph idx="1"/>
          </p:nvPr>
        </p:nvSpPr>
        <p:spPr>
          <a:xfrm>
            <a:off x="539015" y="558265"/>
            <a:ext cx="10814785" cy="5618698"/>
          </a:xfrm>
        </p:spPr>
        <p:txBody>
          <a:bodyPr>
            <a:normAutofit lnSpcReduction="10000"/>
          </a:bodyPr>
          <a:lstStyle/>
          <a:p>
            <a:r>
              <a:rPr lang="en-IN" b="1" dirty="0">
                <a:latin typeface="Times New Roman" panose="02020603050405020304" pitchFamily="18" charset="0"/>
                <a:cs typeface="Times New Roman" panose="02020603050405020304" pitchFamily="18" charset="0"/>
              </a:rPr>
              <a:t>5. Admission</a:t>
            </a:r>
          </a:p>
          <a:p>
            <a:r>
              <a:rPr lang="en-IN" dirty="0">
                <a:latin typeface="Times New Roman" panose="02020603050405020304" pitchFamily="18" charset="0"/>
                <a:cs typeface="Times New Roman" panose="02020603050405020304" pitchFamily="18" charset="0"/>
              </a:rPr>
              <a:t>INSERT INTO Admission</a:t>
            </a:r>
          </a:p>
          <a:p>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Admission_ID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Room_No</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Admission_Date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Discharge_Date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VALUES</a:t>
            </a:r>
          </a:p>
          <a:p>
            <a:r>
              <a:rPr lang="en-IN" dirty="0">
                <a:latin typeface="Times New Roman" panose="02020603050405020304" pitchFamily="18" charset="0"/>
                <a:cs typeface="Times New Roman" panose="02020603050405020304" pitchFamily="18" charset="0"/>
              </a:rPr>
              <a:t>(201, 1, 'A101', '2026-09-15', NULL),</a:t>
            </a:r>
          </a:p>
          <a:p>
            <a:r>
              <a:rPr lang="en-IN" dirty="0">
                <a:latin typeface="Times New Roman" panose="02020603050405020304" pitchFamily="18" charset="0"/>
                <a:cs typeface="Times New Roman" panose="02020603050405020304" pitchFamily="18" charset="0"/>
              </a:rPr>
              <a:t>(202, 2, 'B205', '2026-09-16', '2026-09-18'),</a:t>
            </a:r>
          </a:p>
          <a:p>
            <a:r>
              <a:rPr lang="en-IN" dirty="0">
                <a:latin typeface="Times New Roman" panose="02020603050405020304" pitchFamily="18" charset="0"/>
                <a:cs typeface="Times New Roman" panose="02020603050405020304" pitchFamily="18" charset="0"/>
              </a:rPr>
              <a:t>(203, 3, 'C102', '2026-09-17', NULL);</a:t>
            </a:r>
          </a:p>
          <a:p>
            <a:r>
              <a:rPr lang="en-IN" b="1" dirty="0">
                <a:latin typeface="Times New Roman" panose="02020603050405020304" pitchFamily="18" charset="0"/>
                <a:cs typeface="Times New Roman" panose="02020603050405020304" pitchFamily="18" charset="0"/>
              </a:rPr>
              <a:t>6. Treatment</a:t>
            </a:r>
          </a:p>
          <a:p>
            <a:r>
              <a:rPr lang="en-IN" dirty="0">
                <a:latin typeface="Times New Roman" panose="02020603050405020304" pitchFamily="18" charset="0"/>
                <a:cs typeface="Times New Roman" panose="02020603050405020304" pitchFamily="18" charset="0"/>
              </a:rPr>
              <a:t>INSERT INTO Treatment</a:t>
            </a:r>
          </a:p>
          <a:p>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Treatment_ID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Doctor_ID</a:t>
            </a:r>
            <a:r>
              <a:rPr lang="en-IN" dirty="0">
                <a:latin typeface="Times New Roman" panose="02020603050405020304" pitchFamily="18" charset="0"/>
                <a:cs typeface="Times New Roman" panose="02020603050405020304" pitchFamily="18" charset="0"/>
              </a:rPr>
              <a:t>, Diagnosis,</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Treatment_Date</a:t>
            </a:r>
            <a:r>
              <a:rPr lang="en-IN" dirty="0">
                <a:latin typeface="Times New Roman" panose="02020603050405020304" pitchFamily="18" charset="0"/>
                <a:cs typeface="Times New Roman" panose="02020603050405020304" pitchFamily="18" charset="0"/>
              </a:rPr>
              <a:t>, Description)</a:t>
            </a:r>
          </a:p>
          <a:p>
            <a:r>
              <a:rPr lang="en-IN" dirty="0">
                <a:latin typeface="Times New Roman" panose="02020603050405020304" pitchFamily="18" charset="0"/>
                <a:cs typeface="Times New Roman" panose="02020603050405020304" pitchFamily="18" charset="0"/>
              </a:rPr>
              <a:t>VALUES</a:t>
            </a:r>
          </a:p>
          <a:p>
            <a:r>
              <a:rPr lang="en-IN" dirty="0">
                <a:latin typeface="Times New Roman" panose="02020603050405020304" pitchFamily="18" charset="0"/>
                <a:cs typeface="Times New Roman" panose="02020603050405020304" pitchFamily="18" charset="0"/>
              </a:rPr>
              <a:t>(301, 1, 101, 'Chest Pain', '2026-09-20',</a:t>
            </a:r>
          </a:p>
          <a:p>
            <a:r>
              <a:rPr lang="en-IN" dirty="0">
                <a:latin typeface="Times New Roman" panose="02020603050405020304" pitchFamily="18" charset="0"/>
                <a:cs typeface="Times New Roman" panose="02020603050405020304" pitchFamily="18" charset="0"/>
              </a:rPr>
              <a:t> 'ECG and cardiac observation'),</a:t>
            </a:r>
          </a:p>
          <a:p>
            <a:r>
              <a:rPr lang="en-IN" dirty="0">
                <a:latin typeface="Times New Roman" panose="02020603050405020304" pitchFamily="18" charset="0"/>
                <a:cs typeface="Times New Roman" panose="02020603050405020304" pitchFamily="18" charset="0"/>
              </a:rPr>
              <a:t>(302, 2, 102, 'Migraine', '2026-09-20',</a:t>
            </a:r>
          </a:p>
          <a:p>
            <a:r>
              <a:rPr lang="en-IN" dirty="0">
                <a:latin typeface="Times New Roman" panose="02020603050405020304" pitchFamily="18" charset="0"/>
                <a:cs typeface="Times New Roman" panose="02020603050405020304" pitchFamily="18" charset="0"/>
              </a:rPr>
              <a:t> 'Medication and rest'),</a:t>
            </a:r>
          </a:p>
          <a:p>
            <a:r>
              <a:rPr lang="en-IN" dirty="0">
                <a:latin typeface="Times New Roman" panose="02020603050405020304" pitchFamily="18" charset="0"/>
                <a:cs typeface="Times New Roman" panose="02020603050405020304" pitchFamily="18" charset="0"/>
              </a:rPr>
              <a:t>(303, 3, 103, 'Fever', '2026-09-21',</a:t>
            </a:r>
          </a:p>
          <a:p>
            <a:r>
              <a:rPr lang="en-IN" dirty="0">
                <a:latin typeface="Times New Roman" panose="02020603050405020304" pitchFamily="18" charset="0"/>
                <a:cs typeface="Times New Roman" panose="02020603050405020304" pitchFamily="18" charset="0"/>
              </a:rPr>
              <a:t> 'General medication and observation');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4314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19510E-0223-BA6B-EAF7-F09F8FCE6F62}"/>
              </a:ext>
            </a:extLst>
          </p:cNvPr>
          <p:cNvSpPr>
            <a:spLocks noGrp="1"/>
          </p:cNvSpPr>
          <p:nvPr>
            <p:ph idx="1"/>
          </p:nvPr>
        </p:nvSpPr>
        <p:spPr>
          <a:xfrm>
            <a:off x="529389" y="356135"/>
            <a:ext cx="10824411" cy="5820828"/>
          </a:xfrm>
        </p:spPr>
        <p:txBody>
          <a:bodyPr>
            <a:normAutofit/>
          </a:bodyPr>
          <a:lstStyle/>
          <a:p>
            <a:r>
              <a:rPr lang="en-IN" b="1" dirty="0">
                <a:latin typeface="Times New Roman" panose="02020603050405020304" pitchFamily="18" charset="0"/>
                <a:cs typeface="Times New Roman" panose="02020603050405020304" pitchFamily="18" charset="0"/>
              </a:rPr>
              <a:t>7. Prescription</a:t>
            </a:r>
          </a:p>
          <a:p>
            <a:r>
              <a:rPr lang="en-IN" dirty="0">
                <a:latin typeface="Times New Roman" panose="02020603050405020304" pitchFamily="18" charset="0"/>
                <a:cs typeface="Times New Roman" panose="02020603050405020304" pitchFamily="18" charset="0"/>
              </a:rPr>
              <a:t>INSERT INTO Prescription</a:t>
            </a:r>
          </a:p>
          <a:p>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Prescription_ID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Doctor_ID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Prescription_Date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VALUES</a:t>
            </a:r>
          </a:p>
          <a:p>
            <a:r>
              <a:rPr lang="en-IN" dirty="0">
                <a:latin typeface="Times New Roman" panose="02020603050405020304" pitchFamily="18" charset="0"/>
                <a:cs typeface="Times New Roman" panose="02020603050405020304" pitchFamily="18" charset="0"/>
              </a:rPr>
              <a:t>(401, 1, 101, '2026-09-20'),</a:t>
            </a:r>
          </a:p>
          <a:p>
            <a:r>
              <a:rPr lang="en-IN" dirty="0">
                <a:latin typeface="Times New Roman" panose="02020603050405020304" pitchFamily="18" charset="0"/>
                <a:cs typeface="Times New Roman" panose="02020603050405020304" pitchFamily="18" charset="0"/>
              </a:rPr>
              <a:t>(402, 2, 102, '2026-09-20'),</a:t>
            </a:r>
          </a:p>
          <a:p>
            <a:r>
              <a:rPr lang="en-IN" dirty="0">
                <a:latin typeface="Times New Roman" panose="02020603050405020304" pitchFamily="18" charset="0"/>
                <a:cs typeface="Times New Roman" panose="02020603050405020304" pitchFamily="18" charset="0"/>
              </a:rPr>
              <a:t>(403, 3, 103, '2026-09-21');</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14391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F60F09-F483-9A96-3CD6-A5A986EF9F41}"/>
              </a:ext>
            </a:extLst>
          </p:cNvPr>
          <p:cNvSpPr>
            <a:spLocks noGrp="1"/>
          </p:cNvSpPr>
          <p:nvPr>
            <p:ph idx="1"/>
          </p:nvPr>
        </p:nvSpPr>
        <p:spPr>
          <a:xfrm>
            <a:off x="385011" y="269506"/>
            <a:ext cx="10651156" cy="5900287"/>
          </a:xfrm>
        </p:spPr>
        <p:txBody>
          <a:bodyPr/>
          <a:lstStyle/>
          <a:p>
            <a:r>
              <a:rPr lang="en-IN" b="1" dirty="0">
                <a:latin typeface="Times New Roman" panose="02020603050405020304" pitchFamily="18" charset="0"/>
                <a:cs typeface="Times New Roman" panose="02020603050405020304" pitchFamily="18" charset="0"/>
              </a:rPr>
              <a:t>8. Medicine</a:t>
            </a:r>
          </a:p>
          <a:p>
            <a:r>
              <a:rPr lang="en-IN" dirty="0">
                <a:latin typeface="Times New Roman" panose="02020603050405020304" pitchFamily="18" charset="0"/>
                <a:cs typeface="Times New Roman" panose="02020603050405020304" pitchFamily="18" charset="0"/>
              </a:rPr>
              <a:t>INSERT INTO Medicine</a:t>
            </a:r>
          </a:p>
          <a:p>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Medicine_ID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Medicine_Name</a:t>
            </a:r>
            <a:r>
              <a:rPr lang="en-IN" dirty="0">
                <a:latin typeface="Times New Roman" panose="02020603050405020304" pitchFamily="18" charset="0"/>
                <a:cs typeface="Times New Roman" panose="02020603050405020304" pitchFamily="18" charset="0"/>
              </a:rPr>
              <a:t>, Price, Stock)</a:t>
            </a:r>
          </a:p>
          <a:p>
            <a:r>
              <a:rPr lang="en-IN" dirty="0">
                <a:latin typeface="Times New Roman" panose="02020603050405020304" pitchFamily="18" charset="0"/>
                <a:cs typeface="Times New Roman" panose="02020603050405020304" pitchFamily="18" charset="0"/>
              </a:rPr>
              <a:t>VALUES</a:t>
            </a:r>
          </a:p>
          <a:p>
            <a:r>
              <a:rPr lang="en-IN" dirty="0">
                <a:latin typeface="Times New Roman" panose="02020603050405020304" pitchFamily="18" charset="0"/>
                <a:cs typeface="Times New Roman" panose="02020603050405020304" pitchFamily="18" charset="0"/>
              </a:rPr>
              <a:t>(501, 'Paracetamol', 20.00, 100),</a:t>
            </a:r>
          </a:p>
          <a:p>
            <a:r>
              <a:rPr lang="en-IN" dirty="0">
                <a:latin typeface="Times New Roman" panose="02020603050405020304" pitchFamily="18" charset="0"/>
                <a:cs typeface="Times New Roman" panose="02020603050405020304" pitchFamily="18" charset="0"/>
              </a:rPr>
              <a:t>(502, 'Aspirin', 30.00, 80),</a:t>
            </a:r>
          </a:p>
          <a:p>
            <a:r>
              <a:rPr lang="en-IN" dirty="0">
                <a:latin typeface="Times New Roman" panose="02020603050405020304" pitchFamily="18" charset="0"/>
                <a:cs typeface="Times New Roman" panose="02020603050405020304" pitchFamily="18" charset="0"/>
              </a:rPr>
              <a:t>(503, 'Amoxicillin', 50.00, 60),</a:t>
            </a:r>
          </a:p>
          <a:p>
            <a:r>
              <a:rPr lang="en-IN" dirty="0">
                <a:latin typeface="Times New Roman" panose="02020603050405020304" pitchFamily="18" charset="0"/>
                <a:cs typeface="Times New Roman" panose="02020603050405020304" pitchFamily="18" charset="0"/>
              </a:rPr>
              <a:t>(504, 'Omeprazole', 40.00, 75);</a:t>
            </a:r>
          </a:p>
          <a:p>
            <a:r>
              <a:rPr lang="en-IN" b="1" dirty="0">
                <a:latin typeface="Times New Roman" panose="02020603050405020304" pitchFamily="18" charset="0"/>
                <a:cs typeface="Times New Roman" panose="02020603050405020304" pitchFamily="18" charset="0"/>
              </a:rPr>
              <a:t>9. </a:t>
            </a:r>
            <a:r>
              <a:rPr lang="en-IN" b="1" dirty="0" err="1">
                <a:latin typeface="Times New Roman" panose="02020603050405020304" pitchFamily="18" charset="0"/>
                <a:cs typeface="Times New Roman" panose="02020603050405020304" pitchFamily="18" charset="0"/>
              </a:rPr>
              <a:t>Prescription_Item</a:t>
            </a:r>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INSERT INTO </a:t>
            </a:r>
            <a:r>
              <a:rPr lang="en-IN" dirty="0" err="1">
                <a:latin typeface="Times New Roman" panose="02020603050405020304" pitchFamily="18" charset="0"/>
                <a:cs typeface="Times New Roman" panose="02020603050405020304" pitchFamily="18" charset="0"/>
              </a:rPr>
              <a:t>Prescription_Item</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Prescription_Item_ID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Prescription_ID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Medicine_ID</a:t>
            </a:r>
            <a:r>
              <a:rPr lang="en-IN" dirty="0">
                <a:latin typeface="Times New Roman" panose="02020603050405020304" pitchFamily="18" charset="0"/>
                <a:cs typeface="Times New Roman" panose="02020603050405020304" pitchFamily="18" charset="0"/>
              </a:rPr>
              <a:t>, Quantity, Dosage)</a:t>
            </a:r>
          </a:p>
          <a:p>
            <a:r>
              <a:rPr lang="en-IN" dirty="0">
                <a:latin typeface="Times New Roman" panose="02020603050405020304" pitchFamily="18" charset="0"/>
                <a:cs typeface="Times New Roman" panose="02020603050405020304" pitchFamily="18" charset="0"/>
              </a:rPr>
              <a:t>VALUES</a:t>
            </a:r>
          </a:p>
          <a:p>
            <a:r>
              <a:rPr lang="en-IN" dirty="0">
                <a:latin typeface="Times New Roman" panose="02020603050405020304" pitchFamily="18" charset="0"/>
                <a:cs typeface="Times New Roman" panose="02020603050405020304" pitchFamily="18" charset="0"/>
              </a:rPr>
              <a:t>(601, 401, 502, 10, '1 tablet daily'),</a:t>
            </a:r>
          </a:p>
          <a:p>
            <a:r>
              <a:rPr lang="en-IN" dirty="0">
                <a:latin typeface="Times New Roman" panose="02020603050405020304" pitchFamily="18" charset="0"/>
                <a:cs typeface="Times New Roman" panose="02020603050405020304" pitchFamily="18" charset="0"/>
              </a:rPr>
              <a:t>(602, 402, 501, 6, '1 tablet twice daily'),</a:t>
            </a:r>
          </a:p>
          <a:p>
            <a:r>
              <a:rPr lang="en-IN" dirty="0">
                <a:latin typeface="Times New Roman" panose="02020603050405020304" pitchFamily="18" charset="0"/>
                <a:cs typeface="Times New Roman" panose="02020603050405020304" pitchFamily="18" charset="0"/>
              </a:rPr>
              <a:t>(603, 402, 504, 5, '1 tablet daily'),</a:t>
            </a:r>
          </a:p>
          <a:p>
            <a:r>
              <a:rPr lang="en-IN" dirty="0">
                <a:latin typeface="Times New Roman" panose="02020603050405020304" pitchFamily="18" charset="0"/>
                <a:cs typeface="Times New Roman" panose="02020603050405020304" pitchFamily="18" charset="0"/>
              </a:rPr>
              <a:t>(604, 403, 501, 6, '1 tablet twice daily');</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9174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50C7F4-CF81-0F99-9D81-352B9ECCC92E}"/>
              </a:ext>
            </a:extLst>
          </p:cNvPr>
          <p:cNvSpPr>
            <a:spLocks noGrp="1"/>
          </p:cNvSpPr>
          <p:nvPr>
            <p:ph idx="1"/>
          </p:nvPr>
        </p:nvSpPr>
        <p:spPr>
          <a:xfrm>
            <a:off x="221381" y="288758"/>
            <a:ext cx="11132419" cy="5888205"/>
          </a:xfrm>
        </p:spPr>
        <p:txBody>
          <a:bodyPr>
            <a:normAutofit/>
          </a:bodyPr>
          <a:lstStyle/>
          <a:p>
            <a:r>
              <a:rPr lang="en-US"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 10. Bill</a:t>
            </a:r>
          </a:p>
          <a:p>
            <a:r>
              <a:rPr lang="en-IN" dirty="0">
                <a:latin typeface="Times New Roman" panose="02020603050405020304" pitchFamily="18" charset="0"/>
                <a:cs typeface="Times New Roman" panose="02020603050405020304" pitchFamily="18" charset="0"/>
              </a:rPr>
              <a:t>INSERT INTO Bill</a:t>
            </a:r>
          </a:p>
          <a:p>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Bill_ID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Patient_ID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Bill_Date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Total_Amount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Payment_Status</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VALUES</a:t>
            </a:r>
          </a:p>
          <a:p>
            <a:r>
              <a:rPr lang="en-IN" dirty="0">
                <a:latin typeface="Times New Roman" panose="02020603050405020304" pitchFamily="18" charset="0"/>
                <a:cs typeface="Times New Roman" panose="02020603050405020304" pitchFamily="18" charset="0"/>
              </a:rPr>
              <a:t>(701, 1, '2026-09-20', 5650.00, 'Paid'),</a:t>
            </a:r>
          </a:p>
          <a:p>
            <a:r>
              <a:rPr lang="en-IN" dirty="0">
                <a:latin typeface="Times New Roman" panose="02020603050405020304" pitchFamily="18" charset="0"/>
                <a:cs typeface="Times New Roman" panose="02020603050405020304" pitchFamily="18" charset="0"/>
              </a:rPr>
              <a:t>(702, 2, '2026-09-20', 2300.00, 'Pending'),</a:t>
            </a:r>
          </a:p>
          <a:p>
            <a:r>
              <a:rPr lang="en-IN" dirty="0">
                <a:latin typeface="Times New Roman" panose="02020603050405020304" pitchFamily="18" charset="0"/>
                <a:cs typeface="Times New Roman" panose="02020603050405020304" pitchFamily="18" charset="0"/>
              </a:rPr>
              <a:t>(703, 3, '2026-09-21', 1500.00, 'Paid');</a:t>
            </a:r>
          </a:p>
          <a:p>
            <a:pPr marL="0" indent="0">
              <a:buNone/>
            </a:pPr>
            <a:endParaRPr lang="en-IN" dirty="0"/>
          </a:p>
        </p:txBody>
      </p:sp>
    </p:spTree>
    <p:extLst>
      <p:ext uri="{BB962C8B-B14F-4D97-AF65-F5344CB8AC3E}">
        <p14:creationId xmlns:p14="http://schemas.microsoft.com/office/powerpoint/2010/main" val="32877729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69C88-735B-8518-DC5B-0DC33F395B1D}"/>
              </a:ext>
            </a:extLst>
          </p:cNvPr>
          <p:cNvSpPr>
            <a:spLocks noGrp="1"/>
          </p:cNvSpPr>
          <p:nvPr>
            <p:ph type="title"/>
          </p:nvPr>
        </p:nvSpPr>
        <p:spPr>
          <a:xfrm>
            <a:off x="838200" y="163630"/>
            <a:ext cx="10515600" cy="712270"/>
          </a:xfrm>
        </p:spPr>
        <p:txBody>
          <a:bodyPr/>
          <a:lstStyle/>
          <a:p>
            <a:pPr algn="ctr"/>
            <a:r>
              <a:rPr lang="en-IN" dirty="0"/>
              <a:t>DDL,DML,DQL OPERATIONS:</a:t>
            </a:r>
          </a:p>
        </p:txBody>
      </p:sp>
      <p:pic>
        <p:nvPicPr>
          <p:cNvPr id="6" name="Content Placeholder 5">
            <a:extLst>
              <a:ext uri="{FF2B5EF4-FFF2-40B4-BE49-F238E27FC236}">
                <a16:creationId xmlns:a16="http://schemas.microsoft.com/office/drawing/2014/main" id="{6E8EFBE7-B62B-A24D-C832-57FBF943FE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055077"/>
            <a:ext cx="10515600" cy="5727560"/>
          </a:xfrm>
          <a:prstGeom prst="rect">
            <a:avLst/>
          </a:prstGeom>
        </p:spPr>
      </p:pic>
    </p:spTree>
    <p:extLst>
      <p:ext uri="{BB962C8B-B14F-4D97-AF65-F5344CB8AC3E}">
        <p14:creationId xmlns:p14="http://schemas.microsoft.com/office/powerpoint/2010/main" val="2767405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4E8C9-E088-DDB0-011F-068413E096FB}"/>
              </a:ext>
            </a:extLst>
          </p:cNvPr>
          <p:cNvSpPr>
            <a:spLocks noGrp="1"/>
          </p:cNvSpPr>
          <p:nvPr>
            <p:ph type="title"/>
          </p:nvPr>
        </p:nvSpPr>
        <p:spPr>
          <a:xfrm>
            <a:off x="838200" y="114868"/>
            <a:ext cx="10515600" cy="789907"/>
          </a:xfrm>
        </p:spPr>
        <p:txBody>
          <a:bodyPr/>
          <a:lstStyle/>
          <a:p>
            <a:pPr algn="ctr"/>
            <a:r>
              <a:rPr lang="en-IN" dirty="0"/>
              <a:t>CRUD&amp;SOL QUERIES:</a:t>
            </a:r>
          </a:p>
        </p:txBody>
      </p:sp>
      <p:pic>
        <p:nvPicPr>
          <p:cNvPr id="15" name="Content Placeholder 14">
            <a:extLst>
              <a:ext uri="{FF2B5EF4-FFF2-40B4-BE49-F238E27FC236}">
                <a16:creationId xmlns:a16="http://schemas.microsoft.com/office/drawing/2014/main" id="{722A2A97-114E-1392-2288-A1DC3C0A02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112" y="803868"/>
            <a:ext cx="11696281" cy="6054131"/>
          </a:xfrm>
          <a:prstGeom prst="rect">
            <a:avLst/>
          </a:prstGeom>
        </p:spPr>
      </p:pic>
    </p:spTree>
    <p:extLst>
      <p:ext uri="{BB962C8B-B14F-4D97-AF65-F5344CB8AC3E}">
        <p14:creationId xmlns:p14="http://schemas.microsoft.com/office/powerpoint/2010/main" val="714939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EA10F-825A-4629-AB56-F6D515B00012}"/>
              </a:ext>
            </a:extLst>
          </p:cNvPr>
          <p:cNvSpPr>
            <a:spLocks noGrp="1"/>
          </p:cNvSpPr>
          <p:nvPr>
            <p:ph type="title"/>
          </p:nvPr>
        </p:nvSpPr>
        <p:spPr>
          <a:xfrm>
            <a:off x="838200" y="77002"/>
            <a:ext cx="10515600" cy="847023"/>
          </a:xfrm>
        </p:spPr>
        <p:txBody>
          <a:bodyPr/>
          <a:lstStyle/>
          <a:p>
            <a:pPr algn="ctr"/>
            <a:r>
              <a:rPr lang="en-IN" dirty="0"/>
              <a:t>DATA INTEGRITY&amp;VALIDATION:</a:t>
            </a:r>
          </a:p>
        </p:txBody>
      </p:sp>
      <p:pic>
        <p:nvPicPr>
          <p:cNvPr id="9" name="Content Placeholder 8">
            <a:extLst>
              <a:ext uri="{FF2B5EF4-FFF2-40B4-BE49-F238E27FC236}">
                <a16:creationId xmlns:a16="http://schemas.microsoft.com/office/drawing/2014/main" id="{9DAE4D4C-41D4-06B9-4957-0E01D6E600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3143" y="823965"/>
            <a:ext cx="10379947" cy="5878286"/>
          </a:xfrm>
          <a:prstGeom prst="rect">
            <a:avLst/>
          </a:prstGeom>
        </p:spPr>
      </p:pic>
    </p:spTree>
    <p:extLst>
      <p:ext uri="{BB962C8B-B14F-4D97-AF65-F5344CB8AC3E}">
        <p14:creationId xmlns:p14="http://schemas.microsoft.com/office/powerpoint/2010/main" val="2402658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6913B-9459-CEF2-601F-3445DE40806C}"/>
              </a:ext>
            </a:extLst>
          </p:cNvPr>
          <p:cNvSpPr>
            <a:spLocks noGrp="1"/>
          </p:cNvSpPr>
          <p:nvPr>
            <p:ph type="title"/>
          </p:nvPr>
        </p:nvSpPr>
        <p:spPr>
          <a:xfrm>
            <a:off x="838200" y="115504"/>
            <a:ext cx="10515600" cy="712270"/>
          </a:xfrm>
        </p:spPr>
        <p:txBody>
          <a:bodyPr/>
          <a:lstStyle/>
          <a:p>
            <a:pPr algn="ctr"/>
            <a:r>
              <a:rPr lang="en-IN" dirty="0">
                <a:latin typeface="Times New Roman" panose="02020603050405020304" pitchFamily="18" charset="0"/>
                <a:cs typeface="Times New Roman" panose="02020603050405020304" pitchFamily="18" charset="0"/>
              </a:rPr>
              <a:t>PROJECT DOCUMENTATION:</a:t>
            </a:r>
          </a:p>
        </p:txBody>
      </p:sp>
      <p:sp>
        <p:nvSpPr>
          <p:cNvPr id="3" name="Content Placeholder 2">
            <a:extLst>
              <a:ext uri="{FF2B5EF4-FFF2-40B4-BE49-F238E27FC236}">
                <a16:creationId xmlns:a16="http://schemas.microsoft.com/office/drawing/2014/main" id="{7B81934F-A7EF-743E-FEF8-95DDCDC7A85B}"/>
              </a:ext>
            </a:extLst>
          </p:cNvPr>
          <p:cNvSpPr>
            <a:spLocks noGrp="1"/>
          </p:cNvSpPr>
          <p:nvPr>
            <p:ph idx="1"/>
          </p:nvPr>
        </p:nvSpPr>
        <p:spPr>
          <a:xfrm>
            <a:off x="838200" y="972152"/>
            <a:ext cx="10515600" cy="5204811"/>
          </a:xfrm>
        </p:spPr>
        <p:txBody>
          <a:bodyPr>
            <a:normAutofit/>
          </a:bodyPr>
          <a:lstStyle/>
          <a:p>
            <a:r>
              <a:rPr lang="en-IN" b="1" dirty="0">
                <a:latin typeface="Times New Roman" panose="02020603050405020304" pitchFamily="18" charset="0"/>
                <a:cs typeface="Times New Roman" panose="02020603050405020304" pitchFamily="18" charset="0"/>
              </a:rPr>
              <a:t>Strengths</a:t>
            </a:r>
          </a:p>
          <a:p>
            <a:pPr lvl="0"/>
            <a:r>
              <a:rPr lang="en-IN" b="1" dirty="0">
                <a:latin typeface="Times New Roman" panose="02020603050405020304" pitchFamily="18" charset="0"/>
                <a:cs typeface="Times New Roman" panose="02020603050405020304" pitchFamily="18" charset="0"/>
              </a:rPr>
              <a:t>3NF Design:</a:t>
            </a:r>
            <a:r>
              <a:rPr lang="en-IN" dirty="0">
                <a:latin typeface="Times New Roman" panose="02020603050405020304" pitchFamily="18" charset="0"/>
                <a:cs typeface="Times New Roman" panose="02020603050405020304" pitchFamily="18" charset="0"/>
              </a:rPr>
              <a:t> Reduces data redundancy.</a:t>
            </a:r>
          </a:p>
          <a:p>
            <a:pPr lvl="0"/>
            <a:r>
              <a:rPr lang="en-IN" b="1" dirty="0">
                <a:latin typeface="Times New Roman" panose="02020603050405020304" pitchFamily="18" charset="0"/>
                <a:cs typeface="Times New Roman" panose="02020603050405020304" pitchFamily="18" charset="0"/>
              </a:rPr>
              <a:t>Proper Relationships:</a:t>
            </a:r>
            <a:r>
              <a:rPr lang="en-IN" dirty="0">
                <a:latin typeface="Times New Roman" panose="02020603050405020304" pitchFamily="18" charset="0"/>
                <a:cs typeface="Times New Roman" panose="02020603050405020304" pitchFamily="18" charset="0"/>
              </a:rPr>
              <a:t> Connects patients, doctors, departments, appointments, and treatments.</a:t>
            </a:r>
          </a:p>
          <a:p>
            <a:pPr lvl="0"/>
            <a:r>
              <a:rPr lang="en-IN" b="1" dirty="0">
                <a:latin typeface="Times New Roman" panose="02020603050405020304" pitchFamily="18" charset="0"/>
                <a:cs typeface="Times New Roman" panose="02020603050405020304" pitchFamily="18" charset="0"/>
              </a:rPr>
              <a:t>Keys &amp; Constraints:</a:t>
            </a:r>
            <a:r>
              <a:rPr lang="en-IN" dirty="0">
                <a:latin typeface="Times New Roman" panose="02020603050405020304" pitchFamily="18" charset="0"/>
                <a:cs typeface="Times New Roman" panose="02020603050405020304" pitchFamily="18" charset="0"/>
              </a:rPr>
              <a:t> Uses PK, FK, NOT NULL, UNIQUE, CHECK, and DEFAULT.</a:t>
            </a:r>
          </a:p>
          <a:p>
            <a:r>
              <a:rPr lang="en-IN" b="1" dirty="0">
                <a:latin typeface="Times New Roman" panose="02020603050405020304" pitchFamily="18" charset="0"/>
                <a:cs typeface="Times New Roman" panose="02020603050405020304" pitchFamily="18" charset="0"/>
              </a:rPr>
              <a:t>Quick Fixes</a:t>
            </a:r>
          </a:p>
          <a:p>
            <a:pPr lvl="0"/>
            <a:r>
              <a:rPr lang="en-IN" dirty="0">
                <a:latin typeface="Times New Roman" panose="02020603050405020304" pitchFamily="18" charset="0"/>
                <a:cs typeface="Times New Roman" panose="02020603050405020304" pitchFamily="18" charset="0"/>
              </a:rPr>
              <a:t>Maintain consistent patient and doctor attributes.</a:t>
            </a:r>
          </a:p>
          <a:p>
            <a:pPr lvl="0"/>
            <a:r>
              <a:rPr lang="en-IN" dirty="0">
                <a:latin typeface="Times New Roman" panose="02020603050405020304" pitchFamily="18" charset="0"/>
                <a:cs typeface="Times New Roman" panose="02020603050405020304" pitchFamily="18" charset="0"/>
              </a:rPr>
              <a:t>Add required foreign keys to related tables.</a:t>
            </a:r>
          </a:p>
          <a:p>
            <a:pPr lvl="0"/>
            <a:r>
              <a:rPr lang="en-IN" dirty="0">
                <a:latin typeface="Times New Roman" panose="02020603050405020304" pitchFamily="18" charset="0"/>
                <a:cs typeface="Times New Roman" panose="02020603050405020304" pitchFamily="18" charset="0"/>
              </a:rPr>
              <a:t>Use </a:t>
            </a:r>
            <a:r>
              <a:rPr lang="en-IN" b="1" dirty="0" err="1">
                <a:latin typeface="Times New Roman" panose="02020603050405020304" pitchFamily="18" charset="0"/>
                <a:cs typeface="Times New Roman" panose="02020603050405020304" pitchFamily="18" charset="0"/>
              </a:rPr>
              <a:t>Prescription_Item</a:t>
            </a:r>
            <a:r>
              <a:rPr lang="en-IN" dirty="0">
                <a:latin typeface="Times New Roman" panose="02020603050405020304" pitchFamily="18" charset="0"/>
                <a:cs typeface="Times New Roman" panose="02020603050405020304" pitchFamily="18" charset="0"/>
              </a:rPr>
              <a:t> to connect prescriptions and medicines.</a:t>
            </a:r>
          </a:p>
          <a:p>
            <a:pPr lvl="0"/>
            <a:r>
              <a:rPr lang="en-IN" dirty="0">
                <a:latin typeface="Times New Roman" panose="02020603050405020304" pitchFamily="18" charset="0"/>
                <a:cs typeface="Times New Roman" panose="02020603050405020304" pitchFamily="18" charset="0"/>
              </a:rPr>
              <a:t>Calculate derived values such as bills using SQL where needed.</a:t>
            </a:r>
          </a:p>
          <a:p>
            <a:r>
              <a:rPr lang="en-IN" b="1" dirty="0">
                <a:latin typeface="Times New Roman" panose="02020603050405020304" pitchFamily="18" charset="0"/>
                <a:cs typeface="Times New Roman" panose="02020603050405020304" pitchFamily="18" charset="0"/>
              </a:rPr>
              <a:t>Next Steps</a:t>
            </a:r>
          </a:p>
          <a:p>
            <a:pPr lvl="0"/>
            <a:r>
              <a:rPr lang="en-IN" b="1" dirty="0">
                <a:latin typeface="Times New Roman" panose="02020603050405020304" pitchFamily="18" charset="0"/>
                <a:cs typeface="Times New Roman" panose="02020603050405020304" pitchFamily="18" charset="0"/>
              </a:rPr>
              <a:t>DDL:</a:t>
            </a:r>
            <a:r>
              <a:rPr lang="en-IN" dirty="0">
                <a:latin typeface="Times New Roman" panose="02020603050405020304" pitchFamily="18" charset="0"/>
                <a:cs typeface="Times New Roman" panose="02020603050405020304" pitchFamily="18" charset="0"/>
              </a:rPr>
              <a:t> Create tables with keys and constraints.</a:t>
            </a:r>
          </a:p>
          <a:p>
            <a:pPr lvl="0"/>
            <a:r>
              <a:rPr lang="en-IN" b="1" dirty="0">
                <a:latin typeface="Times New Roman" panose="02020603050405020304" pitchFamily="18" charset="0"/>
                <a:cs typeface="Times New Roman" panose="02020603050405020304" pitchFamily="18" charset="0"/>
              </a:rPr>
              <a:t>DML:</a:t>
            </a:r>
            <a:r>
              <a:rPr lang="en-IN" dirty="0">
                <a:latin typeface="Times New Roman" panose="02020603050405020304" pitchFamily="18" charset="0"/>
                <a:cs typeface="Times New Roman" panose="02020603050405020304" pitchFamily="18" charset="0"/>
              </a:rPr>
              <a:t> Insert sample hospital data.</a:t>
            </a:r>
          </a:p>
          <a:p>
            <a:pPr lvl="0"/>
            <a:r>
              <a:rPr lang="en-IN" b="1" dirty="0">
                <a:latin typeface="Times New Roman" panose="02020603050405020304" pitchFamily="18" charset="0"/>
                <a:cs typeface="Times New Roman" panose="02020603050405020304" pitchFamily="18" charset="0"/>
              </a:rPr>
              <a:t>Integrity:</a:t>
            </a:r>
            <a:r>
              <a:rPr lang="en-IN" dirty="0">
                <a:latin typeface="Times New Roman" panose="02020603050405020304" pitchFamily="18" charset="0"/>
                <a:cs typeface="Times New Roman" panose="02020603050405020304" pitchFamily="18" charset="0"/>
              </a:rPr>
              <a:t> Apply validation and referential integrity.</a:t>
            </a:r>
          </a:p>
          <a:p>
            <a:pPr lvl="0"/>
            <a:r>
              <a:rPr lang="en-IN" b="1" dirty="0">
                <a:latin typeface="Times New Roman" panose="02020603050405020304" pitchFamily="18" charset="0"/>
                <a:cs typeface="Times New Roman" panose="02020603050405020304" pitchFamily="18" charset="0"/>
              </a:rPr>
              <a:t>SQL Queries:</a:t>
            </a:r>
            <a:r>
              <a:rPr lang="en-IN" dirty="0">
                <a:latin typeface="Times New Roman" panose="02020603050405020304" pitchFamily="18" charset="0"/>
                <a:cs typeface="Times New Roman" panose="02020603050405020304" pitchFamily="18" charset="0"/>
              </a:rPr>
              <a:t> Use JOIN, filtering, sorting, and aggregate functions.</a:t>
            </a:r>
          </a:p>
          <a:p>
            <a:pPr lvl="0"/>
            <a:r>
              <a:rPr lang="en-IN" b="1" dirty="0">
                <a:latin typeface="Times New Roman" panose="02020603050405020304" pitchFamily="18" charset="0"/>
                <a:cs typeface="Times New Roman" panose="02020603050405020304" pitchFamily="18" charset="0"/>
              </a:rPr>
              <a:t>Modules:</a:t>
            </a:r>
            <a:r>
              <a:rPr lang="en-IN" dirty="0">
                <a:latin typeface="Times New Roman" panose="02020603050405020304" pitchFamily="18" charset="0"/>
                <a:cs typeface="Times New Roman" panose="02020603050405020304" pitchFamily="18" charset="0"/>
              </a:rPr>
              <a:t> Patient, Doctor, Appointment, Admission, Treatment, Medicine, and Billing.</a:t>
            </a:r>
          </a:p>
          <a:p>
            <a:pPr lvl="0"/>
            <a:r>
              <a:rPr lang="en-IN" b="1" dirty="0">
                <a:latin typeface="Times New Roman" panose="02020603050405020304" pitchFamily="18" charset="0"/>
                <a:cs typeface="Times New Roman" panose="02020603050405020304" pitchFamily="18" charset="0"/>
              </a:rPr>
              <a:t>Wrap-Up:</a:t>
            </a:r>
            <a:r>
              <a:rPr lang="en-IN" dirty="0">
                <a:latin typeface="Times New Roman" panose="02020603050405020304" pitchFamily="18" charset="0"/>
                <a:cs typeface="Times New Roman" panose="02020603050405020304" pitchFamily="18" charset="0"/>
              </a:rPr>
              <a:t> Complete GitHub, team responsibilities, demonstration, future scope, and conclusion.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4663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FE7A0-1849-8F77-5845-98163EBFA840}"/>
              </a:ext>
            </a:extLst>
          </p:cNvPr>
          <p:cNvSpPr>
            <a:spLocks noGrp="1"/>
          </p:cNvSpPr>
          <p:nvPr>
            <p:ph type="title"/>
          </p:nvPr>
        </p:nvSpPr>
        <p:spPr>
          <a:xfrm>
            <a:off x="838200" y="77003"/>
            <a:ext cx="10515600" cy="731519"/>
          </a:xfrm>
        </p:spPr>
        <p:txBody>
          <a:bodyPr/>
          <a:lstStyle/>
          <a:p>
            <a:pPr algn="ctr"/>
            <a:r>
              <a:rPr lang="en-IN" dirty="0"/>
              <a:t>DEMONSTRATE&amp;PRESENT:</a:t>
            </a:r>
          </a:p>
        </p:txBody>
      </p:sp>
      <p:pic>
        <p:nvPicPr>
          <p:cNvPr id="7" name="Content Placeholder 6">
            <a:extLst>
              <a:ext uri="{FF2B5EF4-FFF2-40B4-BE49-F238E27FC236}">
                <a16:creationId xmlns:a16="http://schemas.microsoft.com/office/drawing/2014/main" id="{4E4E6E51-6FB1-F67B-DCA0-B15B902E57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2176" y="1014885"/>
            <a:ext cx="11203912" cy="5476350"/>
          </a:xfrm>
          <a:prstGeom prst="rect">
            <a:avLst/>
          </a:prstGeom>
        </p:spPr>
      </p:pic>
    </p:spTree>
    <p:extLst>
      <p:ext uri="{BB962C8B-B14F-4D97-AF65-F5344CB8AC3E}">
        <p14:creationId xmlns:p14="http://schemas.microsoft.com/office/powerpoint/2010/main" val="38101250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4D965-0890-500A-1C03-E5C586918D3E}"/>
              </a:ext>
            </a:extLst>
          </p:cNvPr>
          <p:cNvSpPr>
            <a:spLocks noGrp="1"/>
          </p:cNvSpPr>
          <p:nvPr>
            <p:ph type="title"/>
          </p:nvPr>
        </p:nvSpPr>
        <p:spPr>
          <a:xfrm>
            <a:off x="838200" y="77002"/>
            <a:ext cx="10515600" cy="721895"/>
          </a:xfrm>
        </p:spPr>
        <p:txBody>
          <a:bodyPr>
            <a:normAutofit/>
          </a:bodyPr>
          <a:lstStyle/>
          <a:p>
            <a:pPr algn="ctr"/>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99995888-A35E-A3E6-B0D5-2EF0E12203C3}"/>
              </a:ext>
            </a:extLst>
          </p:cNvPr>
          <p:cNvSpPr>
            <a:spLocks noGrp="1"/>
          </p:cNvSpPr>
          <p:nvPr>
            <p:ph idx="1"/>
          </p:nvPr>
        </p:nvSpPr>
        <p:spPr>
          <a:xfrm>
            <a:off x="770021" y="798897"/>
            <a:ext cx="10583779" cy="5378066"/>
          </a:xfrm>
        </p:spPr>
        <p:txBody>
          <a:bodyPr/>
          <a:lstStyle/>
          <a:p>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Hospital Management System</a:t>
            </a:r>
            <a:r>
              <a:rPr lang="en-IN" dirty="0">
                <a:latin typeface="Times New Roman" panose="02020603050405020304" pitchFamily="18" charset="0"/>
                <a:cs typeface="Times New Roman" panose="02020603050405020304" pitchFamily="18" charset="0"/>
              </a:rPr>
              <a:t> provides a structured and centralized approach to managing hospital information. The database connects patients, doctors, departments, appointments, admissions, treatments, prescriptions, medicines, and billing records through well-defined relationships.</a:t>
            </a:r>
          </a:p>
          <a:p>
            <a:r>
              <a:rPr lang="en-IN" dirty="0">
                <a:latin typeface="Times New Roman" panose="02020603050405020304" pitchFamily="18" charset="0"/>
                <a:cs typeface="Times New Roman" panose="02020603050405020304" pitchFamily="18" charset="0"/>
              </a:rPr>
              <a:t>The implementation demonstrates important DBMS concepts such as </a:t>
            </a:r>
            <a:r>
              <a:rPr lang="en-IN" b="1" dirty="0">
                <a:latin typeface="Times New Roman" panose="02020603050405020304" pitchFamily="18" charset="0"/>
                <a:cs typeface="Times New Roman" panose="02020603050405020304" pitchFamily="18" charset="0"/>
              </a:rPr>
              <a:t>relational database design, primary keys, foreign keys, constraints, DDL, DML, DQL, CRUD operations, joins, aggregate functions, and data validation</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The system helps reduce data redundancy and manual errors while making hospital information easier to store, retrieve, and manage.</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73907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607A6B-FE9D-3958-8F50-5D5108A11442}"/>
              </a:ext>
            </a:extLst>
          </p:cNvPr>
          <p:cNvSpPr>
            <a:spLocks noGrp="1"/>
          </p:cNvSpPr>
          <p:nvPr>
            <p:ph idx="1"/>
          </p:nvPr>
        </p:nvSpPr>
        <p:spPr>
          <a:xfrm>
            <a:off x="3465095" y="3089711"/>
            <a:ext cx="9746380" cy="1280160"/>
          </a:xfrm>
        </p:spPr>
        <p:txBody>
          <a:bodyPr>
            <a:normAutofit/>
          </a:bodyPr>
          <a:lstStyle/>
          <a:p>
            <a:pPr marL="0" indent="0">
              <a:buNone/>
            </a:pPr>
            <a:r>
              <a:rPr lang="en-IN" sz="4400" dirty="0">
                <a:solidFill>
                  <a:schemeClr val="accent1">
                    <a:lumMod val="50000"/>
                  </a:schemeClr>
                </a:solidFill>
              </a:rPr>
              <a:t>THANK YOU</a:t>
            </a:r>
          </a:p>
        </p:txBody>
      </p:sp>
    </p:spTree>
    <p:extLst>
      <p:ext uri="{BB962C8B-B14F-4D97-AF65-F5344CB8AC3E}">
        <p14:creationId xmlns:p14="http://schemas.microsoft.com/office/powerpoint/2010/main" val="1331253253"/>
      </p:ext>
    </p:extLst>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121AC9A9-9DF1-410F-980B-228D05632962}" vid="{661A2AC3-DE07-4883-A618-4B52B678F5E5}"/>
    </a:ext>
  </a:extLst>
</a:theme>
</file>

<file path=docProps/app.xml><?xml version="1.0" encoding="utf-8"?>
<Properties xmlns="http://schemas.openxmlformats.org/officeDocument/2006/extended-properties" xmlns:vt="http://schemas.openxmlformats.org/officeDocument/2006/docPropsVTypes">
  <Template>Bjorn</Template>
  <TotalTime>297</TotalTime>
  <Words>2356</Words>
  <Application>Microsoft Office PowerPoint</Application>
  <PresentationFormat>Widescreen</PresentationFormat>
  <Paragraphs>330</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Neue Haas Grotesk Text Pro</vt:lpstr>
      <vt:lpstr>System Font Regular</vt:lpstr>
      <vt:lpstr>Times New Roman</vt:lpstr>
      <vt:lpstr>Wingdings</vt:lpstr>
      <vt:lpstr>Bjorn</vt:lpstr>
      <vt:lpstr>Database Management Systems Cornerstone Project Final Review (Review I &amp; II)</vt:lpstr>
      <vt:lpstr>Presentation outline:</vt:lpstr>
      <vt:lpstr>DESIGN:</vt:lpstr>
      <vt:lpstr>Objectives:</vt:lpstr>
      <vt:lpstr>Abstract</vt:lpstr>
      <vt:lpstr>ENTITIES&amp;ATTRIBUTES:</vt:lpstr>
      <vt:lpstr>PowerPoint Presentation</vt:lpstr>
      <vt:lpstr>PowerPoint Presentation</vt:lpstr>
      <vt:lpstr>PRIMARY&amp;FOREIGN KEYS:</vt:lpstr>
      <vt:lpstr>PowerPoint Presentation</vt:lpstr>
      <vt:lpstr>DATABASE&amp;CONSTRAINTS:</vt:lpstr>
      <vt:lpstr>PowerPoint Presentation</vt:lpstr>
      <vt:lpstr>PowerPoint Presentation</vt:lpstr>
      <vt:lpstr>PowerPoint Presentation</vt:lpstr>
      <vt:lpstr>PowerPoint Presentation</vt:lpstr>
      <vt:lpstr>PowerPoint Presentation</vt:lpstr>
      <vt:lpstr>SAMPLE DATA INSERTION:</vt:lpstr>
      <vt:lpstr>PowerPoint Presentation</vt:lpstr>
      <vt:lpstr>PowerPoint Presentation</vt:lpstr>
      <vt:lpstr>PowerPoint Presentation</vt:lpstr>
      <vt:lpstr>PowerPoint Presentation</vt:lpstr>
      <vt:lpstr>PowerPoint Presentation</vt:lpstr>
      <vt:lpstr>DDL,DML,DQL OPERATIONS:</vt:lpstr>
      <vt:lpstr>CRUD&amp;SOL QUERIES:</vt:lpstr>
      <vt:lpstr>DATA INTEGRITY&amp;VALIDATION:</vt:lpstr>
      <vt:lpstr>PROJECT DOCUMENTATION:</vt:lpstr>
      <vt:lpstr>DEMONSTRATE&amp;PRESENT: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 Cornerstone Project Final Review (Review I &amp; II)</dc:title>
  <dc:creator>HP</dc:creator>
  <cp:lastModifiedBy>Kolaparthi Sai Meenakshi</cp:lastModifiedBy>
  <cp:revision>5</cp:revision>
  <dcterms:created xsi:type="dcterms:W3CDTF">2026-09-13T13:47:22Z</dcterms:created>
  <dcterms:modified xsi:type="dcterms:W3CDTF">2026-09-19T16:19:55Z</dcterms:modified>
</cp:coreProperties>
</file>